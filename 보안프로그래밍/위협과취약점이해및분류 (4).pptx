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3.xml" ContentType="application/vnd.openxmlformats-officedocument.theme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4.xml" ContentType="application/vnd.openxmlformats-officedocument.theme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5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91" r:id="rId1"/>
    <p:sldMasterId id="2147483876" r:id="rId2"/>
    <p:sldMasterId id="2147483861" r:id="rId3"/>
    <p:sldMasterId id="2147483846" r:id="rId4"/>
    <p:sldMasterId id="2147483831" r:id="rId5"/>
    <p:sldMasterId id="2147483816" r:id="rId6"/>
  </p:sldMasterIdLst>
  <p:notesMasterIdLst>
    <p:notesMasterId r:id="rId11"/>
  </p:notesMasterIdLst>
  <p:handoutMasterIdLst>
    <p:handoutMasterId r:id="rId12"/>
  </p:handoutMasterIdLst>
  <p:sldIdLst>
    <p:sldId id="258" r:id="rId7"/>
    <p:sldId id="259" r:id="rId8"/>
    <p:sldId id="260" r:id="rId9"/>
    <p:sldId id="261" r:id="rId10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151"/>
    <p:restoredTop sz="94690"/>
  </p:normalViewPr>
  <p:slideViewPr>
    <p:cSldViewPr>
      <p:cViewPr varScale="1">
        <p:scale>
          <a:sx n="77" d="100"/>
          <a:sy n="77" d="100"/>
        </p:scale>
        <p:origin x="200" y="17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1.xml"/><Relationship Id="rId12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theme" Target="theme/theme1.xml"/><Relationship Id="rId10" Type="http://schemas.openxmlformats.org/officeDocument/2006/relationships/slide" Target="slides/slide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AD74D7-7398-467F-8E66-9F84D71555EC}" type="datetimeFigureOut">
              <a:rPr lang="ko-KR" altLang="en-US" smtClean="0"/>
              <a:pPr/>
              <a:t>2024. 3. 23.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AF7876-F963-4692-9F50-FD11004EB3A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98834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E47648-B0DB-4CB1-A671-A940EB3E451F}" type="datetimeFigureOut">
              <a:rPr lang="ko-KR" altLang="en-US" smtClean="0"/>
              <a:t>2024. 3. 23.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2E859E-C362-40A5-8BB8-A244DD663A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61094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위협</a:t>
            </a:r>
            <a:r>
              <a:rPr lang="en-US" altLang="ko-KR" dirty="0"/>
              <a:t>: </a:t>
            </a:r>
            <a:r>
              <a:rPr lang="ko-KR" altLang="en-US" dirty="0" err="1"/>
              <a:t>통제안됨</a:t>
            </a:r>
            <a:r>
              <a:rPr lang="ko-KR" altLang="en-US" dirty="0"/>
              <a:t> 가능성</a:t>
            </a:r>
            <a:endParaRPr lang="en-US" altLang="ko-KR" dirty="0"/>
          </a:p>
          <a:p>
            <a:r>
              <a:rPr lang="ko-KR" altLang="en-US" dirty="0"/>
              <a:t>내가 조치할 수 없다</a:t>
            </a:r>
            <a:endParaRPr lang="en-US" altLang="ko-KR" dirty="0"/>
          </a:p>
          <a:p>
            <a:r>
              <a:rPr lang="ko-KR" altLang="en-US" dirty="0"/>
              <a:t> 취약성</a:t>
            </a:r>
            <a:r>
              <a:rPr lang="en-US" altLang="ko-KR" dirty="0"/>
              <a:t>: </a:t>
            </a:r>
            <a:r>
              <a:rPr lang="ko-KR" altLang="en-US" dirty="0" err="1"/>
              <a:t>조치가능하다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2E859E-C362-40A5-8BB8-A244DD663A4D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27443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492D3B6-ACB7-410F-A490-F6A4EAF21647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93926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5177384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492D3B6-ACB7-410F-A490-F6A4EAF21647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3673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492D3B6-ACB7-410F-A490-F6A4EAF21647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9044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492D3B6-ACB7-410F-A490-F6A4EAF21647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1386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492D3B6-ACB7-410F-A490-F6A4EAF21647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0064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492D3B6-ACB7-410F-A490-F6A4EAF21647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64804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492D3B6-ACB7-410F-A490-F6A4EAF21647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6219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492D3B6-ACB7-410F-A490-F6A4EAF21647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9339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492D3B6-ACB7-410F-A490-F6A4EAF21647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4342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492D3B6-ACB7-410F-A490-F6A4EAF21647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50586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6019046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394063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3571291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492D3B6-ACB7-410F-A490-F6A4EAF21647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93926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5177384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492D3B6-ACB7-410F-A490-F6A4EAF21647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367385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492D3B6-ACB7-410F-A490-F6A4EAF21647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90441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492D3B6-ACB7-410F-A490-F6A4EAF21647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138674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492D3B6-ACB7-410F-A490-F6A4EAF21647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00648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492D3B6-ACB7-410F-A490-F6A4EAF21647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64804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492D3B6-ACB7-410F-A490-F6A4EAF21647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621959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492D3B6-ACB7-410F-A490-F6A4EAF21647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933914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492D3B6-ACB7-410F-A490-F6A4EAF21647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434266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492D3B6-ACB7-410F-A490-F6A4EAF21647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505860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60190460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3940633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35712918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492D3B6-ACB7-410F-A490-F6A4EAF21647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438112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06781867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492D3B6-ACB7-410F-A490-F6A4EAF21647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873170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492D3B6-ACB7-410F-A490-F6A4EAF21647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724203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492D3B6-ACB7-410F-A490-F6A4EAF21647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10914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492D3B6-ACB7-410F-A490-F6A4EAF21647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237683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492D3B6-ACB7-410F-A490-F6A4EAF21647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032651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492D3B6-ACB7-410F-A490-F6A4EAF21647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20936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492D3B6-ACB7-410F-A490-F6A4EAF21647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467614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492D3B6-ACB7-410F-A490-F6A4EAF21647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947504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492D3B6-ACB7-410F-A490-F6A4EAF21647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847471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30551044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64461204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09375903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492D3B6-ACB7-410F-A490-F6A4EAF21647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438112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06781867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492D3B6-ACB7-410F-A490-F6A4EAF21647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873170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492D3B6-ACB7-410F-A490-F6A4EAF21647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724203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492D3B6-ACB7-410F-A490-F6A4EAF21647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109146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492D3B6-ACB7-410F-A490-F6A4EAF21647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237683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492D3B6-ACB7-410F-A490-F6A4EAF21647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032651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492D3B6-ACB7-410F-A490-F6A4EAF21647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20936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492D3B6-ACB7-410F-A490-F6A4EAF21647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467614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492D3B6-ACB7-410F-A490-F6A4EAF21647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947504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492D3B6-ACB7-410F-A490-F6A4EAF21647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847471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30551044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64461204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09375903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492D3B6-ACB7-410F-A490-F6A4EAF21647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4381126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06781867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492D3B6-ACB7-410F-A490-F6A4EAF21647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873170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492D3B6-ACB7-410F-A490-F6A4EAF21647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7242031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492D3B6-ACB7-410F-A490-F6A4EAF21647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109146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492D3B6-ACB7-410F-A490-F6A4EAF21647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237683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492D3B6-ACB7-410F-A490-F6A4EAF21647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0326510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492D3B6-ACB7-410F-A490-F6A4EAF21647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209361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492D3B6-ACB7-410F-A490-F6A4EAF21647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4676142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492D3B6-ACB7-410F-A490-F6A4EAF21647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9475045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492D3B6-ACB7-410F-A490-F6A4EAF21647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8474716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30551044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644612049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093759036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492D3B6-ACB7-410F-A490-F6A4EAF216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4381126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067818671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492D3B6-ACB7-410F-A490-F6A4EAF216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8731708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492D3B6-ACB7-410F-A490-F6A4EAF216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7242031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492D3B6-ACB7-410F-A490-F6A4EAF216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1091464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492D3B6-ACB7-410F-A490-F6A4EAF216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2376838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492D3B6-ACB7-410F-A490-F6A4EAF216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0326510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492D3B6-ACB7-410F-A490-F6A4EAF216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09361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492D3B6-ACB7-410F-A490-F6A4EAF216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4676142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492D3B6-ACB7-410F-A490-F6A4EAF216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9475045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492D3B6-ACB7-410F-A490-F6A4EAF216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8474716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305510449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644612049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093759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40.xml"/><Relationship Id="rId2" Type="http://schemas.openxmlformats.org/officeDocument/2006/relationships/slideLayout" Target="../slideLayouts/slideLayout30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4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0.xml"/><Relationship Id="rId13" Type="http://schemas.openxmlformats.org/officeDocument/2006/relationships/slideLayout" Target="../slideLayouts/slideLayout55.xml"/><Relationship Id="rId3" Type="http://schemas.openxmlformats.org/officeDocument/2006/relationships/slideLayout" Target="../slideLayouts/slideLayout45.xml"/><Relationship Id="rId7" Type="http://schemas.openxmlformats.org/officeDocument/2006/relationships/slideLayout" Target="../slideLayouts/slideLayout49.xml"/><Relationship Id="rId12" Type="http://schemas.openxmlformats.org/officeDocument/2006/relationships/slideLayout" Target="../slideLayouts/slideLayout54.xml"/><Relationship Id="rId2" Type="http://schemas.openxmlformats.org/officeDocument/2006/relationships/slideLayout" Target="../slideLayouts/slideLayout44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8.xml"/><Relationship Id="rId11" Type="http://schemas.openxmlformats.org/officeDocument/2006/relationships/slideLayout" Target="../slideLayouts/slideLayout53.xml"/><Relationship Id="rId5" Type="http://schemas.openxmlformats.org/officeDocument/2006/relationships/slideLayout" Target="../slideLayouts/slideLayout47.xml"/><Relationship Id="rId15" Type="http://schemas.openxmlformats.org/officeDocument/2006/relationships/theme" Target="../theme/theme4.xml"/><Relationship Id="rId10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6.xml"/><Relationship Id="rId9" Type="http://schemas.openxmlformats.org/officeDocument/2006/relationships/slideLayout" Target="../slideLayouts/slideLayout51.xml"/><Relationship Id="rId14" Type="http://schemas.openxmlformats.org/officeDocument/2006/relationships/slideLayout" Target="../slideLayouts/slideLayout5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4.xml"/><Relationship Id="rId13" Type="http://schemas.openxmlformats.org/officeDocument/2006/relationships/slideLayout" Target="../slideLayouts/slideLayout69.xml"/><Relationship Id="rId3" Type="http://schemas.openxmlformats.org/officeDocument/2006/relationships/slideLayout" Target="../slideLayouts/slideLayout59.xml"/><Relationship Id="rId7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8.xml"/><Relationship Id="rId2" Type="http://schemas.openxmlformats.org/officeDocument/2006/relationships/slideLayout" Target="../slideLayouts/slideLayout58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57.xml"/><Relationship Id="rId6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7.xml"/><Relationship Id="rId5" Type="http://schemas.openxmlformats.org/officeDocument/2006/relationships/slideLayout" Target="../slideLayouts/slideLayout61.xml"/><Relationship Id="rId15" Type="http://schemas.openxmlformats.org/officeDocument/2006/relationships/theme" Target="../theme/theme5.xml"/><Relationship Id="rId10" Type="http://schemas.openxmlformats.org/officeDocument/2006/relationships/slideLayout" Target="../slideLayouts/slideLayout66.xml"/><Relationship Id="rId4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5.xml"/><Relationship Id="rId14" Type="http://schemas.openxmlformats.org/officeDocument/2006/relationships/slideLayout" Target="../slideLayouts/slideLayout70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.xml"/><Relationship Id="rId13" Type="http://schemas.openxmlformats.org/officeDocument/2006/relationships/slideLayout" Target="../slideLayouts/slideLayout83.xml"/><Relationship Id="rId3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7.xml"/><Relationship Id="rId12" Type="http://schemas.openxmlformats.org/officeDocument/2006/relationships/slideLayout" Target="../slideLayouts/slideLayout82.xml"/><Relationship Id="rId2" Type="http://schemas.openxmlformats.org/officeDocument/2006/relationships/slideLayout" Target="../slideLayouts/slideLayout7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5" Type="http://schemas.openxmlformats.org/officeDocument/2006/relationships/slideLayout" Target="../slideLayouts/slideLayout75.xml"/><Relationship Id="rId15" Type="http://schemas.openxmlformats.org/officeDocument/2006/relationships/theme" Target="../theme/theme6.xml"/><Relationship Id="rId10" Type="http://schemas.openxmlformats.org/officeDocument/2006/relationships/slideLayout" Target="../slideLayouts/slideLayout80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Relationship Id="rId14" Type="http://schemas.openxmlformats.org/officeDocument/2006/relationships/slideLayout" Target="../slideLayouts/slideLayout8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19" y="1196752"/>
            <a:ext cx="8682037" cy="133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10400" y="6520259"/>
            <a:ext cx="21336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E492D3B6-ACB7-410F-A490-F6A4EAF21647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963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2" r:id="rId1"/>
    <p:sldLayoutId id="2147483893" r:id="rId2"/>
    <p:sldLayoutId id="2147483894" r:id="rId3"/>
    <p:sldLayoutId id="2147483895" r:id="rId4"/>
    <p:sldLayoutId id="2147483896" r:id="rId5"/>
    <p:sldLayoutId id="2147483897" r:id="rId6"/>
    <p:sldLayoutId id="2147483898" r:id="rId7"/>
    <p:sldLayoutId id="2147483899" r:id="rId8"/>
    <p:sldLayoutId id="2147483900" r:id="rId9"/>
    <p:sldLayoutId id="2147483901" r:id="rId10"/>
    <p:sldLayoutId id="2147483902" r:id="rId11"/>
    <p:sldLayoutId id="2147483903" r:id="rId12"/>
    <p:sldLayoutId id="2147483904" r:id="rId13"/>
    <p:sldLayoutId id="2147483905" r:id="rId14"/>
  </p:sldLayoutIdLst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19" y="1196752"/>
            <a:ext cx="8682037" cy="133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10400" y="6520259"/>
            <a:ext cx="21336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E492D3B6-ACB7-410F-A490-F6A4EAF21647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963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7" r:id="rId1"/>
    <p:sldLayoutId id="2147483878" r:id="rId2"/>
    <p:sldLayoutId id="2147483879" r:id="rId3"/>
    <p:sldLayoutId id="2147483880" r:id="rId4"/>
    <p:sldLayoutId id="2147483881" r:id="rId5"/>
    <p:sldLayoutId id="2147483882" r:id="rId6"/>
    <p:sldLayoutId id="2147483883" r:id="rId7"/>
    <p:sldLayoutId id="2147483884" r:id="rId8"/>
    <p:sldLayoutId id="2147483885" r:id="rId9"/>
    <p:sldLayoutId id="2147483886" r:id="rId10"/>
    <p:sldLayoutId id="2147483887" r:id="rId11"/>
    <p:sldLayoutId id="2147483888" r:id="rId12"/>
    <p:sldLayoutId id="2147483889" r:id="rId13"/>
    <p:sldLayoutId id="2147483890" r:id="rId14"/>
  </p:sldLayoutIdLst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19" y="1196752"/>
            <a:ext cx="8682037" cy="133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10400" y="6520259"/>
            <a:ext cx="21336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E492D3B6-ACB7-410F-A490-F6A4EAF21647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7788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2" r:id="rId1"/>
    <p:sldLayoutId id="2147483863" r:id="rId2"/>
    <p:sldLayoutId id="2147483864" r:id="rId3"/>
    <p:sldLayoutId id="2147483865" r:id="rId4"/>
    <p:sldLayoutId id="2147483866" r:id="rId5"/>
    <p:sldLayoutId id="2147483867" r:id="rId6"/>
    <p:sldLayoutId id="2147483868" r:id="rId7"/>
    <p:sldLayoutId id="2147483869" r:id="rId8"/>
    <p:sldLayoutId id="2147483870" r:id="rId9"/>
    <p:sldLayoutId id="2147483871" r:id="rId10"/>
    <p:sldLayoutId id="2147483872" r:id="rId11"/>
    <p:sldLayoutId id="2147483873" r:id="rId12"/>
    <p:sldLayoutId id="2147483874" r:id="rId13"/>
    <p:sldLayoutId id="2147483875" r:id="rId14"/>
  </p:sldLayoutIdLst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19" y="1196752"/>
            <a:ext cx="8682037" cy="133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10400" y="6520259"/>
            <a:ext cx="21336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E492D3B6-ACB7-410F-A490-F6A4EAF21647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7788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7" r:id="rId1"/>
    <p:sldLayoutId id="2147483848" r:id="rId2"/>
    <p:sldLayoutId id="2147483849" r:id="rId3"/>
    <p:sldLayoutId id="2147483850" r:id="rId4"/>
    <p:sldLayoutId id="2147483851" r:id="rId5"/>
    <p:sldLayoutId id="2147483852" r:id="rId6"/>
    <p:sldLayoutId id="2147483853" r:id="rId7"/>
    <p:sldLayoutId id="2147483854" r:id="rId8"/>
    <p:sldLayoutId id="2147483855" r:id="rId9"/>
    <p:sldLayoutId id="2147483856" r:id="rId10"/>
    <p:sldLayoutId id="2147483857" r:id="rId11"/>
    <p:sldLayoutId id="2147483858" r:id="rId12"/>
    <p:sldLayoutId id="2147483859" r:id="rId13"/>
    <p:sldLayoutId id="2147483860" r:id="rId14"/>
  </p:sldLayoutIdLst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19" y="1196752"/>
            <a:ext cx="8682037" cy="133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10400" y="6520259"/>
            <a:ext cx="21336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E492D3B6-ACB7-410F-A490-F6A4EAF21647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7788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  <p:sldLayoutId id="2147483843" r:id="rId12"/>
    <p:sldLayoutId id="2147483844" r:id="rId13"/>
    <p:sldLayoutId id="2147483845" r:id="rId14"/>
  </p:sldLayoutIdLst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19" y="1196752"/>
            <a:ext cx="8682037" cy="133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10400" y="6520259"/>
            <a:ext cx="21336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E492D3B6-ACB7-410F-A490-F6A4EAF2164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7788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  <p:sldLayoutId id="2147483828" r:id="rId12"/>
    <p:sldLayoutId id="2147483829" r:id="rId13"/>
    <p:sldLayoutId id="2147483830" r:id="rId14"/>
  </p:sldLayoutIdLst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위협과 취약성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위협</a:t>
            </a:r>
            <a:r>
              <a:rPr lang="en-US" altLang="ko-KR" dirty="0"/>
              <a:t>(threat)</a:t>
            </a:r>
          </a:p>
          <a:p>
            <a:pPr lvl="1"/>
            <a:r>
              <a:rPr lang="ko-KR" altLang="ko-KR" dirty="0"/>
              <a:t>애플리케이션, 정보, 인프라, 인력 등의 정보기술 자원에 손해를 일으킬 가능성을 지닌 상황 혹은 사건</a:t>
            </a:r>
            <a:r>
              <a:rPr lang="en-US" altLang="ko-KR" dirty="0"/>
              <a:t>.</a:t>
            </a:r>
          </a:p>
          <a:p>
            <a:pPr lvl="1"/>
            <a:endParaRPr lang="en-US" altLang="ko-KR" dirty="0"/>
          </a:p>
          <a:p>
            <a:r>
              <a:rPr lang="ko-KR" altLang="en-US" dirty="0"/>
              <a:t>취약성</a:t>
            </a:r>
            <a:r>
              <a:rPr lang="en-US" altLang="ko-KR" dirty="0"/>
              <a:t>(Vulnerability)</a:t>
            </a:r>
          </a:p>
          <a:p>
            <a:pPr lvl="1"/>
            <a:r>
              <a:rPr lang="ko-KR" altLang="en-US" dirty="0"/>
              <a:t>취약성이란 운영체제나</a:t>
            </a:r>
            <a:r>
              <a:rPr lang="en-US" altLang="ko-KR" dirty="0"/>
              <a:t> </a:t>
            </a:r>
            <a:r>
              <a:rPr lang="ko-KR" altLang="en-US" dirty="0"/>
              <a:t>시스템 소프트웨어 또는 응용소프트웨어 컴포넌트가 지니고 있는 보안상의 문제점이나 허점</a:t>
            </a:r>
            <a:r>
              <a:rPr lang="en-US" altLang="ko-KR" dirty="0"/>
              <a:t>. </a:t>
            </a:r>
            <a:endParaRPr lang="ko-KR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워크샵</a:t>
            </a:r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525963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사용자 과실</a:t>
            </a:r>
            <a:r>
              <a:rPr lang="en-US" altLang="ko-KR" sz="2400" dirty="0"/>
              <a:t>,</a:t>
            </a:r>
            <a:r>
              <a:rPr lang="ko-KR" altLang="en-US" sz="2400" dirty="0"/>
              <a:t>테러</a:t>
            </a:r>
            <a:r>
              <a:rPr lang="en-US" altLang="ko-KR" sz="2400" dirty="0"/>
              <a:t>, </a:t>
            </a:r>
            <a:r>
              <a:rPr lang="ko-KR" altLang="en-US" sz="2400" dirty="0" err="1"/>
              <a:t>다운된서버</a:t>
            </a:r>
            <a:r>
              <a:rPr lang="en-US" altLang="ko-KR" sz="2400" dirty="0"/>
              <a:t>, </a:t>
            </a:r>
            <a:r>
              <a:rPr lang="ko-KR" altLang="en-US" sz="2400" dirty="0" err="1"/>
              <a:t>방화벽없음</a:t>
            </a:r>
            <a:r>
              <a:rPr lang="en-US" altLang="ko-KR" sz="2400" dirty="0"/>
              <a:t>, </a:t>
            </a:r>
            <a:r>
              <a:rPr lang="ko-KR" altLang="en-US" sz="2400" dirty="0"/>
              <a:t>지진대에 위치한 </a:t>
            </a:r>
            <a:r>
              <a:rPr lang="en-US" altLang="ko-KR" sz="2400" dirty="0"/>
              <a:t>IDS, </a:t>
            </a:r>
            <a:r>
              <a:rPr lang="ko-KR" altLang="en-US" sz="2400" dirty="0"/>
              <a:t>도둑</a:t>
            </a:r>
            <a:r>
              <a:rPr lang="en-US" altLang="ko-KR" sz="2400" dirty="0"/>
              <a:t>, </a:t>
            </a:r>
            <a:r>
              <a:rPr lang="ko-KR" altLang="en-US" sz="2400" dirty="0" err="1"/>
              <a:t>홍수대에</a:t>
            </a:r>
            <a:r>
              <a:rPr lang="ko-KR" altLang="en-US" sz="2400" dirty="0"/>
              <a:t> 가까운 사무실</a:t>
            </a:r>
            <a:r>
              <a:rPr lang="en-US" altLang="ko-KR" sz="2400" dirty="0"/>
              <a:t>, </a:t>
            </a:r>
            <a:r>
              <a:rPr lang="ko-KR" altLang="en-US" sz="2400" dirty="0"/>
              <a:t>정전</a:t>
            </a:r>
            <a:r>
              <a:rPr lang="en-US" altLang="ko-KR" sz="2400" dirty="0"/>
              <a:t>, </a:t>
            </a:r>
            <a:r>
              <a:rPr lang="ko-KR" altLang="en-US" sz="2400" dirty="0"/>
              <a:t>지하실에 위치한 </a:t>
            </a:r>
            <a:r>
              <a:rPr lang="ko-KR" altLang="en-US" sz="2400" dirty="0" err="1"/>
              <a:t>서버룸</a:t>
            </a:r>
            <a:r>
              <a:rPr lang="en-US" altLang="ko-KR" sz="2400" dirty="0"/>
              <a:t>, </a:t>
            </a:r>
            <a:r>
              <a:rPr lang="ko-KR" altLang="en-US" sz="2400" dirty="0"/>
              <a:t>건망증</a:t>
            </a:r>
            <a:r>
              <a:rPr lang="en-US" altLang="ko-KR" sz="2400" dirty="0"/>
              <a:t>, </a:t>
            </a:r>
            <a:r>
              <a:rPr lang="ko-KR" altLang="en-US" sz="2400" dirty="0"/>
              <a:t>다운된 </a:t>
            </a:r>
            <a:r>
              <a:rPr lang="en-US" altLang="ko-KR" sz="2400" dirty="0"/>
              <a:t>N/W</a:t>
            </a:r>
            <a:r>
              <a:rPr lang="ko-KR" altLang="en-US" sz="2400" dirty="0"/>
              <a:t>서비스</a:t>
            </a:r>
            <a:r>
              <a:rPr lang="en-US" altLang="ko-KR" sz="2400" dirty="0"/>
              <a:t>, </a:t>
            </a:r>
            <a:r>
              <a:rPr lang="ko-KR" altLang="en-US" sz="2400" dirty="0"/>
              <a:t>해킹</a:t>
            </a:r>
            <a:r>
              <a:rPr lang="en-US" altLang="ko-KR" sz="2400" dirty="0"/>
              <a:t>, </a:t>
            </a:r>
            <a:r>
              <a:rPr lang="ko-KR" altLang="en-US" sz="2400" dirty="0"/>
              <a:t>홍수</a:t>
            </a:r>
            <a:r>
              <a:rPr lang="en-US" altLang="ko-KR" sz="2400" dirty="0"/>
              <a:t>, </a:t>
            </a:r>
            <a:r>
              <a:rPr lang="ko-KR" altLang="en-US" sz="2400" dirty="0" err="1"/>
              <a:t>이동가능한</a:t>
            </a:r>
            <a:r>
              <a:rPr lang="ko-KR" altLang="en-US" sz="2400" dirty="0"/>
              <a:t> 미디어 </a:t>
            </a:r>
            <a:r>
              <a:rPr lang="ko-KR" altLang="en-US" sz="2400" dirty="0" err="1"/>
              <a:t>통제없음</a:t>
            </a:r>
            <a:r>
              <a:rPr lang="en-US" altLang="ko-KR" sz="2400" dirty="0"/>
              <a:t>, </a:t>
            </a:r>
            <a:r>
              <a:rPr lang="ko-KR" altLang="en-US" sz="2400" dirty="0"/>
              <a:t>방화</a:t>
            </a:r>
            <a:r>
              <a:rPr lang="en-US" altLang="ko-KR" sz="2400" dirty="0"/>
              <a:t>, DOS</a:t>
            </a:r>
            <a:r>
              <a:rPr lang="ko-KR" altLang="en-US" sz="2400" dirty="0"/>
              <a:t>공격</a:t>
            </a:r>
            <a:r>
              <a:rPr lang="en-US" altLang="ko-KR" sz="2400" dirty="0"/>
              <a:t>, </a:t>
            </a:r>
            <a:r>
              <a:rPr lang="ko-KR" altLang="en-US" sz="2400" dirty="0"/>
              <a:t>정보보안방침부재</a:t>
            </a:r>
            <a:r>
              <a:rPr lang="en-US" altLang="ko-KR" sz="2400" dirty="0"/>
              <a:t>, </a:t>
            </a:r>
            <a:r>
              <a:rPr lang="ko-KR" altLang="en-US" sz="2400" dirty="0" err="1"/>
              <a:t>서버룸</a:t>
            </a:r>
            <a:r>
              <a:rPr lang="ko-KR" altLang="en-US" sz="2400" dirty="0"/>
              <a:t> 에어컨 고장</a:t>
            </a:r>
            <a:r>
              <a:rPr lang="en-US" altLang="ko-KR" sz="2400" dirty="0"/>
              <a:t>, </a:t>
            </a:r>
            <a:r>
              <a:rPr lang="ko-KR" altLang="en-US" sz="2400" b="1" dirty="0"/>
              <a:t>재택근무</a:t>
            </a:r>
            <a:r>
              <a:rPr lang="en-US" altLang="ko-KR" sz="2400" dirty="0"/>
              <a:t>, </a:t>
            </a:r>
            <a:r>
              <a:rPr lang="ko-KR" altLang="en-US" sz="2400" dirty="0"/>
              <a:t>정신상태불량</a:t>
            </a:r>
            <a:r>
              <a:rPr lang="en-US" altLang="ko-KR" sz="2400" dirty="0"/>
              <a:t>, </a:t>
            </a:r>
            <a:r>
              <a:rPr lang="ko-KR" altLang="en-US" sz="2400" b="1" dirty="0"/>
              <a:t>적자</a:t>
            </a:r>
            <a:r>
              <a:rPr lang="en-US" altLang="ko-KR" sz="2400" dirty="0"/>
              <a:t>, </a:t>
            </a:r>
            <a:r>
              <a:rPr lang="ko-KR" altLang="en-US" sz="2400" dirty="0"/>
              <a:t>바이러스</a:t>
            </a:r>
            <a:r>
              <a:rPr lang="en-US" altLang="ko-KR" sz="2400" dirty="0"/>
              <a:t>, CCTV</a:t>
            </a:r>
            <a:r>
              <a:rPr lang="ko-KR" altLang="en-US" sz="2400" dirty="0"/>
              <a:t>고장</a:t>
            </a:r>
            <a:r>
              <a:rPr lang="en-US" altLang="ko-KR" sz="2400" dirty="0"/>
              <a:t>, </a:t>
            </a:r>
            <a:r>
              <a:rPr lang="ko-KR" altLang="en-US" sz="2400" dirty="0"/>
              <a:t>경쟁사</a:t>
            </a:r>
            <a:r>
              <a:rPr lang="en-US" altLang="ko-KR" sz="2400" dirty="0"/>
              <a:t>, </a:t>
            </a:r>
            <a:r>
              <a:rPr lang="ko-KR" altLang="en-US" sz="2400" dirty="0"/>
              <a:t>악의적 직원</a:t>
            </a:r>
            <a:r>
              <a:rPr lang="en-US" altLang="ko-KR" sz="2400" dirty="0"/>
              <a:t>, </a:t>
            </a:r>
            <a:r>
              <a:rPr lang="ko-KR" altLang="en-US" sz="2400" dirty="0"/>
              <a:t>물리적 통제 부재</a:t>
            </a:r>
            <a:r>
              <a:rPr lang="en-US" altLang="ko-KR" sz="2400" dirty="0"/>
              <a:t>, S/W </a:t>
            </a:r>
            <a:r>
              <a:rPr lang="ko-KR" altLang="en-US" sz="2400" dirty="0"/>
              <a:t>결함</a:t>
            </a:r>
            <a:r>
              <a:rPr lang="en-US" altLang="ko-KR" sz="2400" dirty="0"/>
              <a:t>, </a:t>
            </a:r>
            <a:r>
              <a:rPr lang="ko-KR" altLang="en-US" sz="2400" dirty="0"/>
              <a:t>직원부족</a:t>
            </a:r>
            <a:r>
              <a:rPr lang="en-US" altLang="ko-KR" sz="2400" dirty="0"/>
              <a:t>, </a:t>
            </a:r>
            <a:r>
              <a:rPr lang="ko-KR" altLang="en-US" sz="2400" dirty="0"/>
              <a:t>교육부족</a:t>
            </a:r>
            <a:r>
              <a:rPr lang="en-US" altLang="ko-KR" sz="2400" dirty="0"/>
              <a:t>, </a:t>
            </a:r>
            <a:r>
              <a:rPr lang="ko-KR" altLang="en-US" sz="2400" dirty="0"/>
              <a:t>이동 가능한 기기</a:t>
            </a:r>
            <a:r>
              <a:rPr lang="en-US" altLang="ko-KR" sz="2400" dirty="0"/>
              <a:t>, </a:t>
            </a:r>
            <a:r>
              <a:rPr lang="ko-KR" altLang="en-US" sz="2400" dirty="0"/>
              <a:t>물리적 통제 부재</a:t>
            </a:r>
            <a:r>
              <a:rPr lang="en-US" altLang="ko-KR" sz="2400" dirty="0"/>
              <a:t>, </a:t>
            </a:r>
            <a:r>
              <a:rPr lang="ko-KR" altLang="en-US" sz="2400" dirty="0"/>
              <a:t>감염된 서버</a:t>
            </a:r>
            <a:r>
              <a:rPr lang="en-US" altLang="ko-KR" sz="2400" dirty="0"/>
              <a:t>, ISMS</a:t>
            </a:r>
            <a:r>
              <a:rPr lang="ko-KR" altLang="en-US" sz="2400" dirty="0"/>
              <a:t>부재</a:t>
            </a:r>
            <a:r>
              <a:rPr lang="en-US" altLang="ko-KR" sz="2400" dirty="0"/>
              <a:t>, </a:t>
            </a:r>
            <a:r>
              <a:rPr lang="ko-KR" altLang="en-US" sz="2400" dirty="0"/>
              <a:t>다운된 </a:t>
            </a:r>
            <a:r>
              <a:rPr lang="ko-KR" altLang="en-US" sz="2400" dirty="0" err="1"/>
              <a:t>웹서버</a:t>
            </a:r>
            <a:r>
              <a:rPr lang="en-US" altLang="ko-KR" sz="2400" dirty="0"/>
              <a:t>, IDS/IPS</a:t>
            </a:r>
            <a:r>
              <a:rPr lang="ko-KR" altLang="en-US" sz="2400" dirty="0"/>
              <a:t>부재</a:t>
            </a:r>
            <a:endParaRPr lang="en-US" altLang="ko-KR" sz="2400" dirty="0"/>
          </a:p>
          <a:p>
            <a:pPr>
              <a:lnSpc>
                <a:spcPct val="150000"/>
              </a:lnSpc>
            </a:pPr>
            <a:endParaRPr lang="en-US" altLang="ko-KR" sz="2400" dirty="0"/>
          </a:p>
          <a:p>
            <a:pPr>
              <a:lnSpc>
                <a:spcPct val="150000"/>
              </a:lnSpc>
            </a:pPr>
            <a:endParaRPr lang="ko-KR" alt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위협</a:t>
            </a:r>
            <a:r>
              <a:rPr lang="en-US" altLang="ko-KR" dirty="0"/>
              <a:t>(threat)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사용자 과실</a:t>
            </a:r>
            <a:endParaRPr lang="en-US" altLang="ko-KR" sz="2400" dirty="0"/>
          </a:p>
          <a:p>
            <a:r>
              <a:rPr lang="ko-KR" altLang="en-US" sz="2400" dirty="0"/>
              <a:t>테러</a:t>
            </a:r>
            <a:endParaRPr lang="en-US" altLang="ko-KR" sz="2400" dirty="0"/>
          </a:p>
          <a:p>
            <a:r>
              <a:rPr lang="ko-KR" altLang="en-US" sz="2400" dirty="0"/>
              <a:t>도둑</a:t>
            </a:r>
            <a:endParaRPr lang="en-US" altLang="ko-KR" sz="2400" dirty="0"/>
          </a:p>
          <a:p>
            <a:r>
              <a:rPr lang="ko-KR" altLang="en-US" sz="2400" dirty="0"/>
              <a:t>해킹</a:t>
            </a:r>
            <a:endParaRPr lang="en-US" altLang="ko-KR" sz="2400" dirty="0"/>
          </a:p>
          <a:p>
            <a:r>
              <a:rPr lang="ko-KR" altLang="en-US" sz="2400" dirty="0"/>
              <a:t>홍수</a:t>
            </a:r>
            <a:r>
              <a:rPr lang="en-US" altLang="ko-KR" sz="2400" dirty="0"/>
              <a:t>,</a:t>
            </a:r>
            <a:r>
              <a:rPr lang="ko-KR" altLang="en-US" sz="2400" dirty="0"/>
              <a:t> 지진</a:t>
            </a:r>
            <a:endParaRPr lang="en-US" altLang="ko-KR" sz="2400" dirty="0"/>
          </a:p>
          <a:p>
            <a:r>
              <a:rPr lang="ko-KR" altLang="en-US" sz="2400" dirty="0"/>
              <a:t>방화</a:t>
            </a:r>
            <a:r>
              <a:rPr lang="en-US" altLang="ko-KR" sz="2400" dirty="0"/>
              <a:t>,</a:t>
            </a:r>
            <a:r>
              <a:rPr lang="ko-KR" altLang="en-US" sz="2400" dirty="0"/>
              <a:t> </a:t>
            </a:r>
            <a:r>
              <a:rPr lang="en-US" altLang="ko-KR" sz="2400" dirty="0"/>
              <a:t>DOS </a:t>
            </a:r>
            <a:r>
              <a:rPr lang="ko-KR" altLang="en-US" sz="2400" dirty="0"/>
              <a:t>공격 </a:t>
            </a:r>
            <a:endParaRPr lang="en-US" altLang="ko-KR" sz="2400" dirty="0"/>
          </a:p>
          <a:p>
            <a:r>
              <a:rPr lang="ko-KR" altLang="en-US" sz="2400" dirty="0"/>
              <a:t>정신상태불량</a:t>
            </a:r>
            <a:endParaRPr lang="en-US" altLang="ko-KR" sz="2400" dirty="0"/>
          </a:p>
          <a:p>
            <a:r>
              <a:rPr lang="ko-KR" altLang="en-US" sz="2400" dirty="0"/>
              <a:t>바이러스</a:t>
            </a:r>
            <a:endParaRPr lang="en-US" altLang="ko-KR" sz="2400" dirty="0"/>
          </a:p>
          <a:p>
            <a:r>
              <a:rPr lang="ko-KR" altLang="en-US" sz="2400" dirty="0"/>
              <a:t>경쟁사</a:t>
            </a:r>
            <a:r>
              <a:rPr lang="en-US" altLang="ko-KR" sz="2400" dirty="0"/>
              <a:t>,</a:t>
            </a:r>
            <a:r>
              <a:rPr lang="ko-KR" altLang="en-US" sz="2400" dirty="0"/>
              <a:t> 악의적 직원</a:t>
            </a:r>
            <a:endParaRPr lang="en-US" altLang="ko-KR" sz="2400" dirty="0"/>
          </a:p>
          <a:p>
            <a:r>
              <a:rPr lang="ko-KR" altLang="en-US" sz="2400" dirty="0"/>
              <a:t>적자 </a:t>
            </a:r>
            <a:endParaRPr lang="en-US" altLang="ko-KR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170" dirty="0"/>
              <a:t>취약점</a:t>
            </a:r>
            <a:r>
              <a:rPr lang="en-US" altLang="ko-KR" spc="170" dirty="0"/>
              <a:t>(Vulnerability)</a:t>
            </a:r>
            <a:endParaRPr lang="ko-KR" altLang="en-US" spc="17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/>
          <a:lstStyle/>
          <a:p>
            <a:r>
              <a:rPr lang="ko-KR" altLang="en-US" sz="2400" dirty="0"/>
              <a:t>다운된 서버</a:t>
            </a:r>
            <a:r>
              <a:rPr lang="en-US" altLang="ko-KR" sz="2400" dirty="0"/>
              <a:t>,</a:t>
            </a:r>
            <a:r>
              <a:rPr lang="ko-KR" altLang="en-US" sz="2400" dirty="0"/>
              <a:t> </a:t>
            </a:r>
            <a:r>
              <a:rPr lang="ko-KR" altLang="en-US" sz="2400" dirty="0" err="1"/>
              <a:t>서버룸</a:t>
            </a:r>
            <a:r>
              <a:rPr lang="ko-KR" altLang="en-US" sz="2400" dirty="0"/>
              <a:t> 에어컨 고장</a:t>
            </a:r>
            <a:r>
              <a:rPr lang="en-US" altLang="ko-KR" sz="2400" dirty="0"/>
              <a:t>,</a:t>
            </a:r>
            <a:r>
              <a:rPr lang="ko-KR" altLang="en-US" sz="2400" dirty="0"/>
              <a:t> 다운된 </a:t>
            </a:r>
            <a:r>
              <a:rPr lang="en-US" altLang="ko-KR" sz="2400" dirty="0"/>
              <a:t>N/W </a:t>
            </a:r>
            <a:r>
              <a:rPr lang="ko-KR" altLang="en-US" sz="2400" dirty="0"/>
              <a:t>서비스</a:t>
            </a:r>
            <a:endParaRPr lang="en-US" altLang="ko-KR" sz="2400" dirty="0"/>
          </a:p>
          <a:p>
            <a:r>
              <a:rPr lang="ko-KR" altLang="en-US" sz="2400" dirty="0"/>
              <a:t>방화벽 없음</a:t>
            </a:r>
            <a:r>
              <a:rPr lang="en-US" altLang="ko-KR" sz="2400" dirty="0"/>
              <a:t>,</a:t>
            </a:r>
            <a:r>
              <a:rPr lang="ko-KR" altLang="en-US" sz="2400" dirty="0"/>
              <a:t> 지진대에 위치한 </a:t>
            </a:r>
            <a:r>
              <a:rPr lang="en-US" altLang="ko-KR" sz="2400" dirty="0"/>
              <a:t>IDS, </a:t>
            </a:r>
            <a:r>
              <a:rPr lang="ko-KR" altLang="en-US" sz="2400" dirty="0"/>
              <a:t>홍수대에 가까운 사무실</a:t>
            </a:r>
            <a:endParaRPr lang="en-US" altLang="ko-KR" sz="2400" dirty="0"/>
          </a:p>
          <a:p>
            <a:r>
              <a:rPr lang="ko-KR" altLang="en-US" sz="2400" dirty="0"/>
              <a:t>정전</a:t>
            </a:r>
            <a:r>
              <a:rPr lang="en-US" altLang="ko-KR" sz="2400" dirty="0"/>
              <a:t>,</a:t>
            </a:r>
            <a:r>
              <a:rPr lang="ko-KR" altLang="en-US" sz="2400" dirty="0"/>
              <a:t> 지하실에 위치한 </a:t>
            </a:r>
            <a:r>
              <a:rPr lang="ko-KR" altLang="en-US" sz="2400" dirty="0" err="1"/>
              <a:t>서버룸</a:t>
            </a:r>
            <a:endParaRPr lang="en-US" altLang="ko-KR" sz="2400" dirty="0"/>
          </a:p>
          <a:p>
            <a:r>
              <a:rPr lang="ko-KR" altLang="en-US" sz="2400" dirty="0"/>
              <a:t>건망증</a:t>
            </a:r>
            <a:endParaRPr lang="en-US" altLang="ko-KR" sz="2400" dirty="0"/>
          </a:p>
          <a:p>
            <a:r>
              <a:rPr lang="ko-KR" altLang="en-US" sz="2400" dirty="0"/>
              <a:t>정보보안방침부재</a:t>
            </a:r>
            <a:r>
              <a:rPr lang="en-US" altLang="ko-KR" sz="2400" dirty="0"/>
              <a:t>,</a:t>
            </a:r>
            <a:r>
              <a:rPr lang="ko-KR" altLang="en-US" sz="2400" dirty="0"/>
              <a:t> </a:t>
            </a:r>
            <a:r>
              <a:rPr lang="en-US" altLang="ko-KR" sz="2400" dirty="0"/>
              <a:t>ISMS</a:t>
            </a:r>
            <a:r>
              <a:rPr lang="ko-KR" altLang="en-US" sz="2400" dirty="0"/>
              <a:t> 부재</a:t>
            </a:r>
            <a:endParaRPr lang="en-US" altLang="ko-KR" sz="2400" dirty="0"/>
          </a:p>
          <a:p>
            <a:r>
              <a:rPr lang="ko-KR" altLang="en-US" sz="2400" dirty="0"/>
              <a:t>이동 가능한 미디어 통제 없음</a:t>
            </a:r>
            <a:r>
              <a:rPr lang="en-US" altLang="ko-KR" sz="2400" dirty="0"/>
              <a:t>,</a:t>
            </a:r>
            <a:r>
              <a:rPr lang="ko-KR" altLang="en-US" sz="2400" dirty="0"/>
              <a:t> 이동 가능한 기기 </a:t>
            </a:r>
            <a:endParaRPr lang="en-US" altLang="ko-KR" sz="2400" dirty="0"/>
          </a:p>
          <a:p>
            <a:r>
              <a:rPr lang="en-US" altLang="ko-KR" sz="2400" dirty="0"/>
              <a:t>CCTV </a:t>
            </a:r>
            <a:r>
              <a:rPr lang="ko-KR" altLang="en-US" sz="2400" dirty="0"/>
              <a:t>고장</a:t>
            </a:r>
            <a:r>
              <a:rPr lang="en-US" altLang="ko-KR" sz="2400" dirty="0"/>
              <a:t>,</a:t>
            </a:r>
            <a:r>
              <a:rPr lang="ko-KR" altLang="en-US" sz="2400" dirty="0"/>
              <a:t> 물리적 통제 부재</a:t>
            </a:r>
            <a:endParaRPr lang="en-US" altLang="ko-KR" sz="2400" dirty="0"/>
          </a:p>
          <a:p>
            <a:r>
              <a:rPr lang="en-US" altLang="ko-KR" sz="2400" dirty="0"/>
              <a:t>S/W </a:t>
            </a:r>
            <a:r>
              <a:rPr lang="ko-KR" altLang="en-US" sz="2400" dirty="0"/>
              <a:t>결함</a:t>
            </a:r>
            <a:r>
              <a:rPr lang="en-US" altLang="ko-KR" sz="2400" dirty="0"/>
              <a:t>,</a:t>
            </a:r>
            <a:r>
              <a:rPr lang="ko-KR" altLang="en-US" sz="2400" dirty="0"/>
              <a:t> 감염된 서버</a:t>
            </a:r>
            <a:r>
              <a:rPr lang="en-US" altLang="ko-KR" sz="2400" dirty="0"/>
              <a:t>,</a:t>
            </a:r>
            <a:r>
              <a:rPr lang="ko-KR" altLang="en-US" sz="2400" dirty="0"/>
              <a:t> 다운된 웹서버</a:t>
            </a:r>
            <a:r>
              <a:rPr lang="en-US" altLang="ko-KR" sz="2400" dirty="0"/>
              <a:t>,</a:t>
            </a:r>
            <a:r>
              <a:rPr lang="ko-KR" altLang="en-US" sz="2400" dirty="0"/>
              <a:t> </a:t>
            </a:r>
            <a:r>
              <a:rPr lang="en-US" altLang="ko-KR" sz="2400" dirty="0"/>
              <a:t>IDS/IPS </a:t>
            </a:r>
            <a:r>
              <a:rPr lang="ko-KR" altLang="en-US" sz="2400" dirty="0"/>
              <a:t>부재</a:t>
            </a:r>
            <a:endParaRPr lang="en-US" altLang="ko-KR" sz="2400" dirty="0"/>
          </a:p>
          <a:p>
            <a:r>
              <a:rPr lang="ko-KR" altLang="en-US" sz="2400" dirty="0"/>
              <a:t>직원 부족</a:t>
            </a:r>
            <a:r>
              <a:rPr lang="en-US" altLang="ko-KR" sz="2400" dirty="0"/>
              <a:t>,</a:t>
            </a:r>
            <a:r>
              <a:rPr lang="ko-KR" altLang="en-US" sz="2400" dirty="0"/>
              <a:t> 교육 부족</a:t>
            </a:r>
            <a:endParaRPr lang="en-US" altLang="ko-KR" sz="2400" dirty="0"/>
          </a:p>
          <a:p>
            <a:r>
              <a:rPr lang="ko-KR" altLang="en-US" sz="2400" dirty="0"/>
              <a:t>재택근무 </a:t>
            </a:r>
            <a:endParaRPr lang="en-US" altLang="ko-KR" sz="2400" dirty="0"/>
          </a:p>
          <a:p>
            <a:endParaRPr lang="en-US" altLang="ko-KR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6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5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4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1419</TotalTime>
  <Words>253</Words>
  <Application>Microsoft Macintosh PowerPoint</Application>
  <PresentationFormat>화면 슬라이드 쇼(4:3)</PresentationFormat>
  <Paragraphs>34</Paragraphs>
  <Slides>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6</vt:i4>
      </vt:variant>
      <vt:variant>
        <vt:lpstr>슬라이드 제목</vt:lpstr>
      </vt:variant>
      <vt:variant>
        <vt:i4>4</vt:i4>
      </vt:variant>
    </vt:vector>
  </HeadingPairs>
  <TitlesOfParts>
    <vt:vector size="12" baseType="lpstr">
      <vt:lpstr>맑은 고딕</vt:lpstr>
      <vt:lpstr>Arial</vt:lpstr>
      <vt:lpstr>6_Office 테마</vt:lpstr>
      <vt:lpstr>5_Office 테마</vt:lpstr>
      <vt:lpstr>4_Office 테마</vt:lpstr>
      <vt:lpstr>3_Office 테마</vt:lpstr>
      <vt:lpstr>2_Office 테마</vt:lpstr>
      <vt:lpstr>1_Office 테마</vt:lpstr>
      <vt:lpstr>위협과 취약성</vt:lpstr>
      <vt:lpstr>워크샵1</vt:lpstr>
      <vt:lpstr>위협(threat)</vt:lpstr>
      <vt:lpstr>취약점(Vulnerability)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CERT C 프로그래밍 </dc:title>
  <dc:creator>장정숙</dc:creator>
  <cp:lastModifiedBy>이창엽</cp:lastModifiedBy>
  <cp:revision>41</cp:revision>
  <dcterms:created xsi:type="dcterms:W3CDTF">2013-03-04T05:06:57Z</dcterms:created>
  <dcterms:modified xsi:type="dcterms:W3CDTF">2024-03-23T08:56:15Z</dcterms:modified>
</cp:coreProperties>
</file>