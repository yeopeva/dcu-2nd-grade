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6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3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7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7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8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9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10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10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의제 부제</a:t>
            </a:r>
          </a:p>
        </p:txBody>
      </p:sp>
      <p:sp>
        <p:nvSpPr>
          <p:cNvPr id="11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2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3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연어 어묵, 샐러드, 후무스가 든 그릇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파슬리 버터, 구운 헤이즐넛, 파르메산 치즈를 올린 파파르델레 파스타 그릇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7620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3716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9812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5908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2004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8100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4196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50292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638800" marR="0" indent="-762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6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이창엽 / 경태웅 / 신세미 (2024.04.26)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>
                <a:latin typeface="HY신명조" panose="02030600000101010101" pitchFamily="18" charset="-127"/>
                <a:ea typeface="HY신명조" panose="02030600000101010101" pitchFamily="18" charset="-127"/>
              </a:rPr>
              <a:t>이창엽 / 경태웅 / 신세미 (2024.04.26)</a:t>
            </a:r>
          </a:p>
        </p:txBody>
      </p:sp>
      <p:sp>
        <p:nvSpPr>
          <p:cNvPr id="172" name="주제 : 개인 건강 관리 앱"/>
          <p:cNvSpPr txBox="1">
            <a:spLocks noGrp="1"/>
          </p:cNvSpPr>
          <p:nvPr>
            <p:ph type="ctrTitle"/>
          </p:nvPr>
        </p:nvSpPr>
        <p:spPr>
          <a:xfrm>
            <a:off x="1206496" y="5692517"/>
            <a:ext cx="21971004" cy="15306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주제 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개인 건강 관리 앱</a:t>
            </a:r>
            <a:endParaRPr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3" name="팀명 : 헤헤(Hell body? Come on, health)"/>
          <p:cNvSpPr txBox="1">
            <a:spLocks noGrp="1"/>
          </p:cNvSpPr>
          <p:nvPr>
            <p:ph type="subTitle" sz="quarter" idx="1"/>
          </p:nvPr>
        </p:nvSpPr>
        <p:spPr>
          <a:xfrm>
            <a:off x="1201342" y="7223190"/>
            <a:ext cx="21971001" cy="9489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팀명</a:t>
            </a:r>
            <a:r>
              <a:rPr dirty="0">
                <a:latin typeface="HY신명조" panose="02030600000101010101" pitchFamily="18" charset="-127"/>
                <a:ea typeface="HY신명조" panose="02030600000101010101" pitchFamily="18" charset="-127"/>
              </a:rPr>
              <a:t> : </a:t>
            </a:r>
            <a:r>
              <a:rPr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헤헤</a:t>
            </a:r>
            <a:r>
              <a:rPr dirty="0">
                <a:latin typeface="HY신명조" panose="02030600000101010101" pitchFamily="18" charset="-127"/>
                <a:ea typeface="HY신명조" panose="02030600000101010101" pitchFamily="18" charset="-127"/>
              </a:rPr>
              <a:t>(Hell body? Come on, health)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연어 어묵, 샐러드, 후무스가 든 그릇" descr="연어 어묵, 샐러드, 후무스가 든 그릇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10038" t="10422" r="29" b="10512"/>
          <a:stretch>
            <a:fillRect/>
          </a:stretch>
        </p:blipFill>
        <p:spPr>
          <a:xfrm>
            <a:off x="12192000" y="1270000"/>
            <a:ext cx="10922000" cy="11176000"/>
          </a:xfrm>
          <a:prstGeom prst="rect">
            <a:avLst/>
          </a:prstGeom>
        </p:spPr>
      </p:pic>
      <p:sp>
        <p:nvSpPr>
          <p:cNvPr id="176" name="팀명 &amp; 팀 구성원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HY신명조" panose="02030600000101010101" pitchFamily="18" charset="-127"/>
                <a:ea typeface="HY신명조" panose="02030600000101010101" pitchFamily="18" charset="-127"/>
              </a:rPr>
              <a:t>팀명 &amp; 팀 구성원</a:t>
            </a:r>
          </a:p>
        </p:txBody>
      </p:sp>
      <p:sp>
        <p:nvSpPr>
          <p:cNvPr id="177" name="팀 소개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HY신명조" panose="02030600000101010101" pitchFamily="18" charset="-127"/>
                <a:ea typeface="HY신명조" panose="02030600000101010101" pitchFamily="18" charset="-127"/>
              </a:rPr>
              <a:t>팀 소개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팀 소개"/>
          <p:cNvSpPr txBox="1">
            <a:spLocks noGrp="1"/>
          </p:cNvSpPr>
          <p:nvPr>
            <p:ph type="title"/>
          </p:nvPr>
        </p:nvSpPr>
        <p:spPr>
          <a:xfrm>
            <a:off x="1206500" y="1036205"/>
            <a:ext cx="21971000" cy="1433163"/>
          </a:xfrm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>
                <a:latin typeface="HY신명조" panose="02030600000101010101" pitchFamily="18" charset="-127"/>
                <a:ea typeface="HY신명조" panose="02030600000101010101" pitchFamily="18" charset="-127"/>
              </a:rPr>
              <a:t>팀 소개</a:t>
            </a:r>
          </a:p>
        </p:txBody>
      </p:sp>
      <p:sp>
        <p:nvSpPr>
          <p:cNvPr id="180" name="팀원을 소개합니다.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팀원을</a:t>
            </a:r>
            <a:r>
              <a:rPr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소개합니다</a:t>
            </a:r>
            <a:r>
              <a:rPr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1D39466-E36C-EB2C-A122-D8D66ABC0E53}"/>
              </a:ext>
            </a:extLst>
          </p:cNvPr>
          <p:cNvGrpSpPr/>
          <p:nvPr/>
        </p:nvGrpSpPr>
        <p:grpSpPr>
          <a:xfrm>
            <a:off x="1619616" y="4601204"/>
            <a:ext cx="20385512" cy="7862033"/>
            <a:chOff x="1619616" y="4601204"/>
            <a:chExt cx="20385512" cy="7862033"/>
          </a:xfrm>
        </p:grpSpPr>
        <p:sp>
          <p:nvSpPr>
            <p:cNvPr id="181" name="남성"/>
            <p:cNvSpPr/>
            <p:nvPr/>
          </p:nvSpPr>
          <p:spPr>
            <a:xfrm>
              <a:off x="11527561" y="4601204"/>
              <a:ext cx="1328879" cy="3585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28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82" name="이창엽"/>
            <p:cNvSpPr txBox="1"/>
            <p:nvPr/>
          </p:nvSpPr>
          <p:spPr>
            <a:xfrm>
              <a:off x="4351132" y="9037783"/>
              <a:ext cx="1949253" cy="767390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algn="ctr"/>
              <a:r>
                <a:rPr sz="4800" b="1" u="sng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이창엽</a:t>
              </a:r>
              <a:endParaRPr sz="4800" b="1" u="sng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83" name="경태웅"/>
            <p:cNvSpPr txBox="1"/>
            <p:nvPr/>
          </p:nvSpPr>
          <p:spPr>
            <a:xfrm>
              <a:off x="11217373" y="9037783"/>
              <a:ext cx="1949253" cy="767390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algn="ctr"/>
              <a:r>
                <a:rPr sz="4800" b="1" u="sng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경태웅</a:t>
              </a:r>
              <a:endParaRPr sz="4800" b="1" u="sng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84" name="남성"/>
            <p:cNvSpPr/>
            <p:nvPr/>
          </p:nvSpPr>
          <p:spPr>
            <a:xfrm>
              <a:off x="19176635" y="4601204"/>
              <a:ext cx="1328879" cy="3585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28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85" name="남성"/>
            <p:cNvSpPr/>
            <p:nvPr/>
          </p:nvSpPr>
          <p:spPr>
            <a:xfrm>
              <a:off x="4661320" y="4601204"/>
              <a:ext cx="1328879" cy="3585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280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86" name="신세미"/>
            <p:cNvSpPr txBox="1"/>
            <p:nvPr/>
          </p:nvSpPr>
          <p:spPr>
            <a:xfrm>
              <a:off x="18866447" y="9037783"/>
              <a:ext cx="1949253" cy="767390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algn="ctr"/>
              <a:r>
                <a:rPr sz="4800" b="1" u="sng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신세미</a:t>
              </a:r>
            </a:p>
          </p:txBody>
        </p:sp>
        <p:sp>
          <p:nvSpPr>
            <p:cNvPr id="187" name="서류 작성 &amp;…"/>
            <p:cNvSpPr txBox="1"/>
            <p:nvPr/>
          </p:nvSpPr>
          <p:spPr>
            <a:xfrm>
              <a:off x="1619616" y="10564769"/>
              <a:ext cx="7059625" cy="189846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 sz="5500"/>
              </a:pPr>
              <a:r>
                <a:rPr lang="ko-KR" altLang="en-US"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ㆍ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서류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작성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</a:p>
            <a:p>
              <a:pPr>
                <a:defRPr sz="5500"/>
              </a:pPr>
              <a:r>
                <a:rPr lang="ko-KR" altLang="en-US"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ㆍ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프로젝트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관리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및 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리서치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</a:p>
          </p:txBody>
        </p:sp>
        <p:sp>
          <p:nvSpPr>
            <p:cNvPr id="188" name="디자인 담당"/>
            <p:cNvSpPr txBox="1"/>
            <p:nvPr/>
          </p:nvSpPr>
          <p:spPr>
            <a:xfrm>
              <a:off x="10217101" y="10557844"/>
              <a:ext cx="3863237" cy="71199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ko-KR" altLang="en-US"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ㆍ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디자인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담당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</a:p>
          </p:txBody>
        </p:sp>
        <p:sp>
          <p:nvSpPr>
            <p:cNvPr id="189" name="코드 작성 담당"/>
            <p:cNvSpPr txBox="1"/>
            <p:nvPr/>
          </p:nvSpPr>
          <p:spPr>
            <a:xfrm>
              <a:off x="17577634" y="10557844"/>
              <a:ext cx="4427494" cy="71199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ko-KR" altLang="en-US"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ㆍ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코드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작성</a:t>
              </a:r>
              <a:r>
                <a:rPr sz="4400" dirty="0">
                  <a:latin typeface="HY신명조" panose="02030600000101010101" pitchFamily="18" charset="-127"/>
                  <a:ea typeface="HY신명조" panose="02030600000101010101" pitchFamily="18" charset="-127"/>
                </a:rPr>
                <a:t> </a:t>
              </a:r>
              <a:r>
                <a:rPr sz="4400" dirty="0" err="1">
                  <a:latin typeface="HY신명조" panose="02030600000101010101" pitchFamily="18" charset="-127"/>
                  <a:ea typeface="HY신명조" panose="02030600000101010101" pitchFamily="18" charset="-127"/>
                </a:rPr>
                <a:t>담당</a:t>
              </a:r>
              <a:endParaRPr sz="44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16375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연어 어묵, 샐러드, 후무스가 든 그릇" descr="연어 어묵, 샐러드, 후무스가 든 그릇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10038" t="10422" r="29" b="10512"/>
          <a:stretch>
            <a:fillRect/>
          </a:stretch>
        </p:blipFill>
        <p:spPr>
          <a:xfrm>
            <a:off x="12192000" y="1270000"/>
            <a:ext cx="10922000" cy="11176000"/>
          </a:xfrm>
          <a:prstGeom prst="rect">
            <a:avLst/>
          </a:prstGeom>
        </p:spPr>
      </p:pic>
      <p:sp>
        <p:nvSpPr>
          <p:cNvPr id="192" name="앱 개발 주제"/>
          <p:cNvSpPr txBox="1">
            <a:spLocks noGrp="1"/>
          </p:cNvSpPr>
          <p:nvPr>
            <p:ph type="title"/>
          </p:nvPr>
        </p:nvSpPr>
        <p:spPr>
          <a:xfrm>
            <a:off x="1130300" y="1270000"/>
            <a:ext cx="9779000" cy="5882273"/>
          </a:xfrm>
          <a:prstGeom prst="rect">
            <a:avLst/>
          </a:prstGeom>
        </p:spPr>
        <p:txBody>
          <a:bodyPr/>
          <a:lstStyle/>
          <a:p>
            <a:r>
              <a:rPr dirty="0"/>
              <a:t>앱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주제</a:t>
            </a:r>
            <a:endParaRPr dirty="0"/>
          </a:p>
        </p:txBody>
      </p:sp>
      <p:sp>
        <p:nvSpPr>
          <p:cNvPr id="193" name="개인 건강 관리 앱"/>
          <p:cNvSpPr txBox="1">
            <a:spLocks noGrp="1"/>
          </p:cNvSpPr>
          <p:nvPr>
            <p:ph type="body" sz="quarter" idx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앱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앱 개발 주제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t>앱 개발 주제</a:t>
            </a:r>
          </a:p>
        </p:txBody>
      </p:sp>
      <p:sp>
        <p:nvSpPr>
          <p:cNvPr id="196" name="소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 err="1"/>
              <a:t>소개</a:t>
            </a:r>
            <a:r>
              <a:rPr dirty="0"/>
              <a:t> </a:t>
            </a:r>
          </a:p>
        </p:txBody>
      </p:sp>
      <p:pic>
        <p:nvPicPr>
          <p:cNvPr id="197" name="news-p.v1.20220804.09f105efa2c647e18cf08a39d71dd2b3_P1.jpg" descr="news-p.v1.20220804.09f105efa2c647e18cf08a39d71dd2b3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25" y="4298193"/>
            <a:ext cx="10415475" cy="6948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개인건강관리앱 제작…"/>
          <p:cNvSpPr txBox="1"/>
          <p:nvPr/>
        </p:nvSpPr>
        <p:spPr>
          <a:xfrm>
            <a:off x="13447899" y="5980724"/>
            <a:ext cx="10028386" cy="3583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b="1" dirty="0" err="1"/>
              <a:t>개인건강관리앱</a:t>
            </a:r>
            <a:r>
              <a:rPr b="1" dirty="0"/>
              <a:t> </a:t>
            </a:r>
            <a:r>
              <a:rPr b="1" dirty="0" err="1"/>
              <a:t>제작</a:t>
            </a:r>
            <a:endParaRPr b="1" dirty="0"/>
          </a:p>
          <a:p>
            <a:pPr>
              <a:buSzPct val="123000"/>
            </a:pPr>
            <a:r>
              <a:rPr lang="ko-KR" altLang="en-US" sz="5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ㆍ</a:t>
            </a:r>
            <a:r>
              <a:rPr sz="5400" dirty="0" err="1"/>
              <a:t>개인이</a:t>
            </a:r>
            <a:r>
              <a:rPr sz="5400" dirty="0"/>
              <a:t> </a:t>
            </a:r>
            <a:r>
              <a:rPr sz="5400" dirty="0" err="1"/>
              <a:t>건강을</a:t>
            </a:r>
            <a:r>
              <a:rPr sz="5400" dirty="0"/>
              <a:t> </a:t>
            </a:r>
            <a:r>
              <a:rPr sz="5400" dirty="0" err="1"/>
              <a:t>관리할</a:t>
            </a:r>
            <a:r>
              <a:rPr sz="5400" dirty="0"/>
              <a:t> 수 </a:t>
            </a:r>
            <a:r>
              <a:rPr sz="5400" dirty="0" err="1"/>
              <a:t>있는</a:t>
            </a:r>
            <a:endParaRPr sz="5400" dirty="0"/>
          </a:p>
          <a:p>
            <a:pPr>
              <a:buSzPct val="123000"/>
            </a:pPr>
            <a:r>
              <a:rPr lang="en-US" sz="5400" dirty="0"/>
              <a:t>   </a:t>
            </a:r>
            <a:r>
              <a:rPr sz="5400" dirty="0" err="1"/>
              <a:t>앱을</a:t>
            </a:r>
            <a:r>
              <a:rPr sz="5400" dirty="0"/>
              <a:t> </a:t>
            </a:r>
            <a:r>
              <a:rPr sz="5400" dirty="0" err="1"/>
              <a:t>제작</a:t>
            </a:r>
            <a:r>
              <a:rPr lang="ko-KR" altLang="en-US" sz="5400" dirty="0"/>
              <a:t>하자</a:t>
            </a:r>
            <a:r>
              <a:rPr lang="en-US" altLang="ko-KR" sz="5400" dirty="0"/>
              <a:t>.</a:t>
            </a:r>
            <a:endParaRPr sz="54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앱 개발 주제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t>앱 개발 주제</a:t>
            </a:r>
          </a:p>
        </p:txBody>
      </p:sp>
      <p:sp>
        <p:nvSpPr>
          <p:cNvPr id="201" name="소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소개 </a:t>
            </a:r>
          </a:p>
        </p:txBody>
      </p:sp>
      <p:pic>
        <p:nvPicPr>
          <p:cNvPr id="202" name="스크린샷 2024-04-24 오후 6.34.31.png" descr="스크린샷 2024-04-24 오후 6.34.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20" y="3678613"/>
            <a:ext cx="7816056" cy="8397330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만성질환을 가진 사람 (꾸준히 증가)…"/>
          <p:cNvSpPr txBox="1"/>
          <p:nvPr/>
        </p:nvSpPr>
        <p:spPr>
          <a:xfrm>
            <a:off x="10942685" y="6789544"/>
            <a:ext cx="12336711" cy="217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buSzPct val="123000"/>
            </a:pPr>
            <a:r>
              <a:rPr lang="ko-KR" altLang="en-US" sz="5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ㆍ</a:t>
            </a:r>
            <a:r>
              <a:rPr sz="5400" dirty="0" err="1"/>
              <a:t>만성질환을</a:t>
            </a:r>
            <a:r>
              <a:rPr sz="5400" dirty="0"/>
              <a:t> </a:t>
            </a:r>
            <a:r>
              <a:rPr sz="5400" dirty="0" err="1"/>
              <a:t>가진</a:t>
            </a:r>
            <a:r>
              <a:rPr sz="5400" dirty="0"/>
              <a:t> </a:t>
            </a:r>
            <a:r>
              <a:rPr sz="5400" dirty="0" err="1"/>
              <a:t>사람</a:t>
            </a:r>
            <a:r>
              <a:rPr lang="ko-KR" altLang="en-US" sz="5400" dirty="0"/>
              <a:t>의 꾸준한 </a:t>
            </a:r>
            <a:r>
              <a:rPr sz="5400" dirty="0" err="1"/>
              <a:t>증가</a:t>
            </a:r>
            <a:endParaRPr sz="5400" dirty="0"/>
          </a:p>
          <a:p>
            <a:pPr>
              <a:buSzPct val="123000"/>
            </a:pPr>
            <a:r>
              <a:rPr lang="ko-KR" altLang="en-US" sz="5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ㆍ</a:t>
            </a:r>
            <a:r>
              <a:rPr sz="5400" dirty="0" err="1"/>
              <a:t>이런</a:t>
            </a:r>
            <a:r>
              <a:rPr sz="5400" dirty="0"/>
              <a:t> </a:t>
            </a:r>
            <a:r>
              <a:rPr sz="5400" dirty="0" err="1"/>
              <a:t>현상에</a:t>
            </a:r>
            <a:r>
              <a:rPr sz="5400" dirty="0"/>
              <a:t> </a:t>
            </a:r>
            <a:r>
              <a:rPr sz="5400" dirty="0" err="1"/>
              <a:t>대응할</a:t>
            </a:r>
            <a:r>
              <a:rPr sz="5400" dirty="0"/>
              <a:t> </a:t>
            </a:r>
            <a:r>
              <a:rPr sz="5400" dirty="0" err="1"/>
              <a:t>필요가</a:t>
            </a:r>
            <a:r>
              <a:rPr sz="5400" dirty="0"/>
              <a:t> </a:t>
            </a:r>
            <a:r>
              <a:rPr sz="5400" dirty="0" err="1"/>
              <a:t>있음</a:t>
            </a:r>
            <a:endParaRPr sz="54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연어 어묵, 샐러드, 후무스가 든 그릇" descr="연어 어묵, 샐러드, 후무스가 든 그릇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10038" t="10422" r="29" b="10512"/>
          <a:stretch>
            <a:fillRect/>
          </a:stretch>
        </p:blipFill>
        <p:spPr>
          <a:xfrm>
            <a:off x="12192000" y="1270000"/>
            <a:ext cx="10922000" cy="11176000"/>
          </a:xfrm>
          <a:prstGeom prst="rect">
            <a:avLst/>
          </a:prstGeom>
        </p:spPr>
      </p:pic>
      <p:sp>
        <p:nvSpPr>
          <p:cNvPr id="206" name="앱 개발의 필요성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앱 개발의 필요성</a:t>
            </a:r>
          </a:p>
        </p:txBody>
      </p:sp>
      <p:sp>
        <p:nvSpPr>
          <p:cNvPr id="207" name="해당 주제에 대한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해당 주제에 대한</a:t>
            </a:r>
          </a:p>
          <a:p>
            <a:r>
              <a:t>앱 개발 필요성?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앱 개발 필요성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/>
              <a:t>앱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필요성</a:t>
            </a:r>
            <a:endParaRPr dirty="0"/>
          </a:p>
        </p:txBody>
      </p:sp>
      <p:sp>
        <p:nvSpPr>
          <p:cNvPr id="210" name="앱이 필요한 이유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 err="1"/>
              <a:t>앱이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</p:txBody>
      </p:sp>
      <p:sp>
        <p:nvSpPr>
          <p:cNvPr id="211" name="건강 모니터링 강화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39700" indent="0">
              <a:spcBef>
                <a:spcPts val="2000"/>
              </a:spcBef>
              <a:buSzPct val="100000"/>
              <a:buNone/>
              <a:defRPr sz="4500"/>
            </a:pPr>
            <a:r>
              <a:rPr lang="en-US" b="1" dirty="0"/>
              <a:t>1. </a:t>
            </a:r>
            <a:r>
              <a:rPr b="1" dirty="0" err="1"/>
              <a:t>건강</a:t>
            </a:r>
            <a:r>
              <a:rPr b="1" dirty="0"/>
              <a:t> </a:t>
            </a:r>
            <a:r>
              <a:rPr b="1" dirty="0" err="1"/>
              <a:t>모니터링</a:t>
            </a:r>
            <a:r>
              <a:rPr b="1" dirty="0"/>
              <a:t> </a:t>
            </a:r>
            <a:r>
              <a:rPr b="1" dirty="0" err="1"/>
              <a:t>강화</a:t>
            </a:r>
            <a:endParaRPr b="1" dirty="0"/>
          </a:p>
          <a:p>
            <a:pPr marL="0" indent="0">
              <a:spcBef>
                <a:spcPts val="2000"/>
              </a:spcBef>
              <a:buSzTx/>
              <a:buNone/>
              <a:defRPr sz="4500"/>
            </a:pPr>
            <a:r>
              <a:rPr lang="ko-KR" altLang="en-US" dirty="0"/>
              <a:t>해당 앱을 </a:t>
            </a:r>
            <a:r>
              <a:rPr dirty="0"/>
              <a:t>통</a:t>
            </a:r>
            <a:r>
              <a:rPr lang="ko-KR" altLang="en-US" dirty="0"/>
              <a:t>한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일상적인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모니터링</a:t>
            </a:r>
            <a:endParaRPr lang="en-US" altLang="ko-KR" dirty="0"/>
          </a:p>
          <a:p>
            <a:pPr marL="0" indent="0">
              <a:spcBef>
                <a:spcPts val="2000"/>
              </a:spcBef>
              <a:buSzTx/>
              <a:buNone/>
              <a:defRPr sz="4500"/>
            </a:pPr>
            <a:endParaRPr dirty="0"/>
          </a:p>
          <a:p>
            <a:pPr marL="139700" indent="0">
              <a:spcBef>
                <a:spcPts val="2000"/>
              </a:spcBef>
              <a:buSzPct val="100000"/>
              <a:buNone/>
              <a:defRPr sz="4500"/>
            </a:pPr>
            <a:r>
              <a:rPr lang="en-US" b="1" dirty="0"/>
              <a:t>2. </a:t>
            </a:r>
            <a:r>
              <a:rPr b="1" dirty="0" err="1"/>
              <a:t>예방적</a:t>
            </a:r>
            <a:r>
              <a:rPr b="1" dirty="0"/>
              <a:t> </a:t>
            </a:r>
            <a:r>
              <a:rPr b="1" dirty="0" err="1"/>
              <a:t>건강</a:t>
            </a:r>
            <a:r>
              <a:rPr b="1" dirty="0"/>
              <a:t> </a:t>
            </a:r>
            <a:r>
              <a:rPr b="1" dirty="0" err="1"/>
              <a:t>관리</a:t>
            </a:r>
            <a:endParaRPr b="1" dirty="0"/>
          </a:p>
          <a:p>
            <a:pPr marL="0" indent="0">
              <a:spcBef>
                <a:spcPts val="2000"/>
              </a:spcBef>
              <a:buSzTx/>
              <a:buNone/>
              <a:defRPr sz="4500"/>
            </a:pPr>
            <a:r>
              <a:rPr dirty="0" err="1"/>
              <a:t>해당</a:t>
            </a:r>
            <a:r>
              <a:rPr dirty="0"/>
              <a:t> 앱</a:t>
            </a:r>
            <a:r>
              <a:rPr lang="ko-KR" altLang="en-US" dirty="0"/>
              <a:t>에서 제공되는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및 </a:t>
            </a:r>
            <a:r>
              <a:rPr dirty="0" err="1"/>
              <a:t>분석을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사용자에게</a:t>
            </a:r>
            <a:r>
              <a:rPr dirty="0"/>
              <a:t> </a:t>
            </a:r>
            <a:r>
              <a:rPr dirty="0" err="1"/>
              <a:t>맞춤</a:t>
            </a:r>
            <a:r>
              <a:rPr lang="ko-KR" altLang="en-US" dirty="0"/>
              <a:t>형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개선</a:t>
            </a:r>
            <a:endParaRPr lang="en-US" dirty="0"/>
          </a:p>
          <a:p>
            <a:pPr marL="0" indent="0">
              <a:spcBef>
                <a:spcPts val="2000"/>
              </a:spcBef>
              <a:buSzTx/>
              <a:buNone/>
              <a:defRPr sz="4500"/>
            </a:pPr>
            <a:r>
              <a:rPr dirty="0" err="1"/>
              <a:t>조언</a:t>
            </a:r>
            <a:r>
              <a:rPr lang="en-US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marL="0" indent="0">
              <a:spcBef>
                <a:spcPts val="2000"/>
              </a:spcBef>
              <a:buSzTx/>
              <a:buNone/>
              <a:defRPr sz="4500"/>
            </a:pPr>
            <a:endParaRPr dirty="0"/>
          </a:p>
          <a:p>
            <a:pPr marL="139700" indent="0">
              <a:spcBef>
                <a:spcPts val="2000"/>
              </a:spcBef>
              <a:buSzPct val="100000"/>
              <a:buNone/>
              <a:defRPr sz="4500"/>
            </a:pPr>
            <a:r>
              <a:rPr lang="en-US" b="1" dirty="0"/>
              <a:t>3. </a:t>
            </a:r>
            <a:r>
              <a:rPr b="1" dirty="0" err="1"/>
              <a:t>건강</a:t>
            </a:r>
            <a:r>
              <a:rPr b="1" dirty="0"/>
              <a:t> </a:t>
            </a:r>
            <a:r>
              <a:rPr b="1" dirty="0" err="1"/>
              <a:t>정보의</a:t>
            </a:r>
            <a:r>
              <a:rPr b="1" dirty="0"/>
              <a:t> </a:t>
            </a:r>
            <a:r>
              <a:rPr b="1" dirty="0" err="1"/>
              <a:t>중앙</a:t>
            </a:r>
            <a:r>
              <a:rPr b="1" dirty="0"/>
              <a:t> </a:t>
            </a:r>
            <a:r>
              <a:rPr b="1" dirty="0" err="1"/>
              <a:t>집중화</a:t>
            </a:r>
            <a:endParaRPr b="1" dirty="0"/>
          </a:p>
          <a:p>
            <a:pPr marL="0" indent="0">
              <a:spcBef>
                <a:spcPts val="2000"/>
              </a:spcBef>
              <a:buSzTx/>
              <a:buNone/>
              <a:defRPr sz="4500"/>
            </a:pP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앱을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lang="ko-KR" altLang="en-US" dirty="0"/>
              <a:t>사용자의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한 </a:t>
            </a:r>
            <a:r>
              <a:rPr dirty="0" err="1"/>
              <a:t>곳에서</a:t>
            </a:r>
            <a:r>
              <a:rPr dirty="0"/>
              <a:t> </a:t>
            </a:r>
            <a:r>
              <a:rPr dirty="0" err="1"/>
              <a:t>관리</a:t>
            </a:r>
            <a:r>
              <a:rPr lang="ko-KR" altLang="en-US" dirty="0"/>
              <a:t>할 수 있음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연어 어묵, 샐러드, 후무스가 든 그릇" descr="연어 어묵, 샐러드, 후무스가 든 그릇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10038" t="10422" r="29" b="10512"/>
          <a:stretch>
            <a:fillRect/>
          </a:stretch>
        </p:blipFill>
        <p:spPr>
          <a:xfrm>
            <a:off x="12192000" y="1270000"/>
            <a:ext cx="10922000" cy="11176000"/>
          </a:xfrm>
          <a:prstGeom prst="rect">
            <a:avLst/>
          </a:prstGeom>
        </p:spPr>
      </p:pic>
      <p:sp>
        <p:nvSpPr>
          <p:cNvPr id="214" name="전체 Min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전체 Mindmap</a:t>
            </a:r>
          </a:p>
        </p:txBody>
      </p:sp>
      <p:sp>
        <p:nvSpPr>
          <p:cNvPr id="215" name="Screen 별 대략적인 구성 소개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Screen 별 대략적인 구성 소개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전체 마인드맵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t>전체 마인드맵</a:t>
            </a:r>
          </a:p>
        </p:txBody>
      </p:sp>
      <p:sp>
        <p:nvSpPr>
          <p:cNvPr id="218" name="구성 안내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구성 안내 </a:t>
            </a:r>
          </a:p>
        </p:txBody>
      </p:sp>
      <p:sp>
        <p:nvSpPr>
          <p:cNvPr id="219" name="직사각형"/>
          <p:cNvSpPr/>
          <p:nvPr/>
        </p:nvSpPr>
        <p:spPr>
          <a:xfrm>
            <a:off x="10091439" y="2768600"/>
            <a:ext cx="3718522" cy="490934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0" name="직사각형"/>
          <p:cNvSpPr/>
          <p:nvPr/>
        </p:nvSpPr>
        <p:spPr>
          <a:xfrm>
            <a:off x="10091439" y="8382000"/>
            <a:ext cx="3718522" cy="490934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1" name="직사각형"/>
          <p:cNvSpPr/>
          <p:nvPr/>
        </p:nvSpPr>
        <p:spPr>
          <a:xfrm>
            <a:off x="3970039" y="5105400"/>
            <a:ext cx="3718522" cy="490934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2" name="직사각형"/>
          <p:cNvSpPr/>
          <p:nvPr/>
        </p:nvSpPr>
        <p:spPr>
          <a:xfrm>
            <a:off x="16695439" y="8382000"/>
            <a:ext cx="3718522" cy="490934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3" name="직사각형"/>
          <p:cNvSpPr/>
          <p:nvPr/>
        </p:nvSpPr>
        <p:spPr>
          <a:xfrm>
            <a:off x="16695439" y="2768600"/>
            <a:ext cx="3718522" cy="490934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4" name="메인"/>
          <p:cNvSpPr txBox="1"/>
          <p:nvPr/>
        </p:nvSpPr>
        <p:spPr>
          <a:xfrm>
            <a:off x="5387657" y="7236222"/>
            <a:ext cx="88328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3500"/>
            </a:lvl1pPr>
          </a:lstStyle>
          <a:p>
            <a:r>
              <a:t>메인</a:t>
            </a:r>
          </a:p>
        </p:txBody>
      </p:sp>
      <p:sp>
        <p:nvSpPr>
          <p:cNvPr id="225" name="건강 데이터…"/>
          <p:cNvSpPr txBox="1"/>
          <p:nvPr/>
        </p:nvSpPr>
        <p:spPr>
          <a:xfrm>
            <a:off x="10870533" y="4361332"/>
            <a:ext cx="2160334" cy="172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500"/>
            </a:pPr>
            <a:r>
              <a:t>건강 데이터</a:t>
            </a:r>
          </a:p>
          <a:p>
            <a:pPr algn="ctr">
              <a:defRPr sz="3500"/>
            </a:pPr>
            <a:r>
              <a:t>트래킹</a:t>
            </a:r>
          </a:p>
        </p:txBody>
      </p:sp>
      <p:sp>
        <p:nvSpPr>
          <p:cNvPr id="226" name="식단 관리"/>
          <p:cNvSpPr txBox="1"/>
          <p:nvPr/>
        </p:nvSpPr>
        <p:spPr>
          <a:xfrm>
            <a:off x="11062779" y="10512408"/>
            <a:ext cx="1775842" cy="648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3500"/>
            </a:lvl1pPr>
          </a:lstStyle>
          <a:p>
            <a:r>
              <a:t>식단 관리</a:t>
            </a:r>
          </a:p>
        </p:txBody>
      </p:sp>
      <p:sp>
        <p:nvSpPr>
          <p:cNvPr id="227" name="건강 목표…"/>
          <p:cNvSpPr txBox="1"/>
          <p:nvPr/>
        </p:nvSpPr>
        <p:spPr>
          <a:xfrm>
            <a:off x="17464976" y="4360918"/>
            <a:ext cx="2179448" cy="1724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500"/>
            </a:pPr>
            <a:r>
              <a:t>건강 목표</a:t>
            </a:r>
          </a:p>
          <a:p>
            <a:pPr algn="ctr">
              <a:defRPr sz="3500"/>
            </a:pPr>
            <a:r>
              <a:t>설정 &amp; 추적</a:t>
            </a:r>
          </a:p>
        </p:txBody>
      </p:sp>
      <p:sp>
        <p:nvSpPr>
          <p:cNvPr id="228" name="건강 정보…"/>
          <p:cNvSpPr txBox="1"/>
          <p:nvPr/>
        </p:nvSpPr>
        <p:spPr>
          <a:xfrm>
            <a:off x="17666779" y="9974732"/>
            <a:ext cx="1775842" cy="172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500"/>
            </a:pPr>
            <a:r>
              <a:t>건강 정보</a:t>
            </a:r>
          </a:p>
          <a:p>
            <a:pPr algn="ctr">
              <a:defRPr sz="3500"/>
            </a:pPr>
            <a:r>
              <a:t>교육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전체 마인드맵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마인드맵</a:t>
            </a:r>
            <a:endParaRPr dirty="0"/>
          </a:p>
        </p:txBody>
      </p:sp>
      <p:sp>
        <p:nvSpPr>
          <p:cNvPr id="231" name="기능 안내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기능 안내</a:t>
            </a:r>
          </a:p>
        </p:txBody>
      </p:sp>
      <p:sp>
        <p:nvSpPr>
          <p:cNvPr id="232" name="건강 데이터 트래킹…"/>
          <p:cNvSpPr txBox="1"/>
          <p:nvPr/>
        </p:nvSpPr>
        <p:spPr>
          <a:xfrm>
            <a:off x="1206500" y="4131608"/>
            <a:ext cx="21480239" cy="850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39700">
              <a:spcBef>
                <a:spcPts val="2000"/>
              </a:spcBef>
              <a:buSzPct val="123000"/>
              <a:defRPr sz="3500"/>
            </a:pPr>
            <a:r>
              <a:rPr lang="en-US" sz="4400" b="1" dirty="0"/>
              <a:t>1.  </a:t>
            </a:r>
            <a:r>
              <a:rPr sz="4400" b="1" dirty="0" err="1"/>
              <a:t>건강</a:t>
            </a:r>
            <a:r>
              <a:rPr sz="4400" b="1" dirty="0"/>
              <a:t> </a:t>
            </a:r>
            <a:r>
              <a:rPr sz="4400" b="1" dirty="0" err="1"/>
              <a:t>데이터</a:t>
            </a:r>
            <a:r>
              <a:rPr sz="4400" b="1" dirty="0"/>
              <a:t> </a:t>
            </a:r>
            <a:r>
              <a:rPr sz="4400" b="1" dirty="0" err="1"/>
              <a:t>트래킹</a:t>
            </a:r>
            <a:endParaRPr sz="4400" b="1" dirty="0"/>
          </a:p>
          <a:p>
            <a:pPr marL="596900">
              <a:spcBef>
                <a:spcPts val="2000"/>
              </a:spcBef>
              <a:buSzPct val="123000"/>
              <a:defRPr sz="3500"/>
            </a:pPr>
            <a:r>
              <a:rPr lang="ko-KR" altLang="en-US" sz="4400" dirty="0"/>
              <a:t>◦ </a:t>
            </a:r>
            <a:r>
              <a:rPr sz="4400" dirty="0" err="1"/>
              <a:t>활동</a:t>
            </a:r>
            <a:r>
              <a:rPr sz="4400" dirty="0"/>
              <a:t> </a:t>
            </a:r>
            <a:r>
              <a:rPr sz="4400" dirty="0" err="1"/>
              <a:t>모니터링</a:t>
            </a:r>
            <a:r>
              <a:rPr sz="4400" dirty="0"/>
              <a:t> : </a:t>
            </a:r>
            <a:r>
              <a:rPr sz="4400" dirty="0" err="1"/>
              <a:t>걸음</a:t>
            </a:r>
            <a:r>
              <a:rPr sz="4400" dirty="0"/>
              <a:t> 수, </a:t>
            </a:r>
            <a:r>
              <a:rPr sz="4400" dirty="0" err="1"/>
              <a:t>운동량</a:t>
            </a:r>
            <a:r>
              <a:rPr sz="4400" dirty="0"/>
              <a:t>, </a:t>
            </a:r>
            <a:r>
              <a:rPr sz="4400" dirty="0" err="1"/>
              <a:t>칼로리</a:t>
            </a:r>
            <a:r>
              <a:rPr sz="4400" dirty="0"/>
              <a:t> </a:t>
            </a:r>
            <a:r>
              <a:rPr sz="4400" dirty="0" err="1"/>
              <a:t>소비량</a:t>
            </a:r>
            <a:r>
              <a:rPr sz="4400" dirty="0"/>
              <a:t> 등 </a:t>
            </a:r>
          </a:p>
          <a:p>
            <a:pPr marL="139700">
              <a:spcBef>
                <a:spcPts val="2000"/>
              </a:spcBef>
              <a:buSzPct val="123000"/>
              <a:defRPr sz="3500"/>
            </a:pPr>
            <a:r>
              <a:rPr lang="en-US" sz="4400" b="1" dirty="0"/>
              <a:t>2. </a:t>
            </a:r>
            <a:r>
              <a:rPr sz="4400" b="1" dirty="0" err="1"/>
              <a:t>식단</a:t>
            </a:r>
            <a:r>
              <a:rPr sz="4400" b="1" dirty="0"/>
              <a:t> </a:t>
            </a:r>
            <a:r>
              <a:rPr sz="4400" b="1" dirty="0" err="1"/>
              <a:t>관리</a:t>
            </a:r>
            <a:endParaRPr sz="4400" b="1" dirty="0"/>
          </a:p>
          <a:p>
            <a:pPr marL="596900" lvl="1" indent="0">
              <a:spcBef>
                <a:spcPts val="2000"/>
              </a:spcBef>
              <a:buSzPct val="123000"/>
              <a:defRPr sz="3500"/>
            </a:pPr>
            <a:r>
              <a:rPr lang="ko-KR" altLang="en-US" sz="4400" dirty="0"/>
              <a:t>◦ </a:t>
            </a:r>
            <a:r>
              <a:rPr sz="4400" dirty="0" err="1"/>
              <a:t>식사기록</a:t>
            </a:r>
            <a:r>
              <a:rPr sz="4400" dirty="0"/>
              <a:t>  : </a:t>
            </a:r>
            <a:r>
              <a:rPr sz="4400" dirty="0" err="1"/>
              <a:t>섭취한</a:t>
            </a:r>
            <a:r>
              <a:rPr sz="4400" dirty="0"/>
              <a:t> </a:t>
            </a:r>
            <a:r>
              <a:rPr sz="4400" dirty="0" err="1"/>
              <a:t>음식과</a:t>
            </a:r>
            <a:r>
              <a:rPr sz="4400" dirty="0"/>
              <a:t> </a:t>
            </a:r>
            <a:r>
              <a:rPr sz="4400" dirty="0" err="1"/>
              <a:t>칼로리</a:t>
            </a:r>
            <a:r>
              <a:rPr sz="4400" dirty="0"/>
              <a:t> </a:t>
            </a:r>
            <a:r>
              <a:rPr sz="4400" dirty="0" err="1"/>
              <a:t>기록</a:t>
            </a:r>
            <a:r>
              <a:rPr sz="4400" dirty="0"/>
              <a:t> 및 </a:t>
            </a:r>
            <a:r>
              <a:rPr sz="4400" dirty="0" err="1"/>
              <a:t>분석</a:t>
            </a:r>
            <a:endParaRPr sz="4400" dirty="0"/>
          </a:p>
          <a:p>
            <a:pPr marL="596900" lvl="1" indent="0">
              <a:spcBef>
                <a:spcPts val="2000"/>
              </a:spcBef>
              <a:buSzPct val="123000"/>
              <a:defRPr sz="3500"/>
            </a:pPr>
            <a:r>
              <a:rPr lang="ko-KR" altLang="en-US" sz="4400" dirty="0"/>
              <a:t>◦ </a:t>
            </a:r>
            <a:r>
              <a:rPr sz="4400" dirty="0" err="1"/>
              <a:t>영양</a:t>
            </a:r>
            <a:r>
              <a:rPr sz="4400" dirty="0"/>
              <a:t> </a:t>
            </a:r>
            <a:r>
              <a:rPr sz="4400" dirty="0" err="1"/>
              <a:t>정보</a:t>
            </a:r>
            <a:r>
              <a:rPr sz="4400" dirty="0"/>
              <a:t> </a:t>
            </a:r>
            <a:r>
              <a:rPr sz="4400" dirty="0" err="1"/>
              <a:t>제공</a:t>
            </a:r>
            <a:r>
              <a:rPr sz="4400" dirty="0"/>
              <a:t> : </a:t>
            </a:r>
            <a:r>
              <a:rPr sz="4400" dirty="0" err="1"/>
              <a:t>섭취한</a:t>
            </a:r>
            <a:r>
              <a:rPr sz="4400" dirty="0"/>
              <a:t> </a:t>
            </a:r>
            <a:r>
              <a:rPr sz="4400" dirty="0" err="1"/>
              <a:t>음식의</a:t>
            </a:r>
            <a:r>
              <a:rPr sz="4400" dirty="0"/>
              <a:t> </a:t>
            </a:r>
            <a:r>
              <a:rPr sz="4400" dirty="0" err="1"/>
              <a:t>영양소</a:t>
            </a:r>
            <a:r>
              <a:rPr sz="4400" dirty="0"/>
              <a:t> </a:t>
            </a:r>
            <a:r>
              <a:rPr sz="4400" dirty="0" err="1"/>
              <a:t>구성</a:t>
            </a:r>
            <a:r>
              <a:rPr sz="4400" dirty="0"/>
              <a:t> </a:t>
            </a:r>
            <a:r>
              <a:rPr sz="4400" dirty="0" err="1"/>
              <a:t>분석</a:t>
            </a:r>
            <a:r>
              <a:rPr sz="4400" dirty="0"/>
              <a:t> 및 </a:t>
            </a:r>
            <a:r>
              <a:rPr sz="4400" dirty="0" err="1"/>
              <a:t>권장</a:t>
            </a:r>
            <a:r>
              <a:rPr sz="4400" dirty="0"/>
              <a:t> </a:t>
            </a:r>
            <a:r>
              <a:rPr sz="4400" dirty="0" err="1"/>
              <a:t>영양</a:t>
            </a:r>
            <a:r>
              <a:rPr sz="4400" dirty="0"/>
              <a:t> </a:t>
            </a:r>
            <a:r>
              <a:rPr sz="4400" dirty="0" err="1"/>
              <a:t>섭취량과</a:t>
            </a:r>
            <a:r>
              <a:rPr sz="4400" dirty="0"/>
              <a:t> </a:t>
            </a:r>
            <a:r>
              <a:rPr sz="4400" dirty="0" err="1"/>
              <a:t>비교</a:t>
            </a:r>
            <a:r>
              <a:rPr sz="4400" dirty="0"/>
              <a:t> </a:t>
            </a:r>
          </a:p>
          <a:p>
            <a:pPr marL="139700">
              <a:spcBef>
                <a:spcPts val="2000"/>
              </a:spcBef>
              <a:buSzPct val="123000"/>
              <a:defRPr sz="3500"/>
            </a:pPr>
            <a:r>
              <a:rPr lang="en-US" sz="4400" b="1" dirty="0"/>
              <a:t>3. </a:t>
            </a:r>
            <a:r>
              <a:rPr sz="4400" b="1" dirty="0" err="1"/>
              <a:t>건강</a:t>
            </a:r>
            <a:r>
              <a:rPr sz="4400" b="1" dirty="0"/>
              <a:t> </a:t>
            </a:r>
            <a:r>
              <a:rPr sz="4400" b="1" dirty="0" err="1"/>
              <a:t>목표</a:t>
            </a:r>
            <a:r>
              <a:rPr sz="4400" b="1" dirty="0"/>
              <a:t> </a:t>
            </a:r>
            <a:r>
              <a:rPr sz="4400" b="1" dirty="0" err="1"/>
              <a:t>설정</a:t>
            </a:r>
            <a:r>
              <a:rPr sz="4400" b="1" dirty="0"/>
              <a:t> 및 </a:t>
            </a:r>
            <a:r>
              <a:rPr sz="4400" b="1" dirty="0" err="1"/>
              <a:t>추적</a:t>
            </a:r>
            <a:r>
              <a:rPr sz="4400" dirty="0"/>
              <a:t> </a:t>
            </a:r>
          </a:p>
          <a:p>
            <a:pPr marL="596900" lvl="1" indent="0">
              <a:spcBef>
                <a:spcPts val="2000"/>
              </a:spcBef>
              <a:buSzPct val="123000"/>
              <a:defRPr sz="3500"/>
            </a:pPr>
            <a:r>
              <a:rPr lang="ko-KR" altLang="en-US" sz="4400" dirty="0"/>
              <a:t>◦ </a:t>
            </a:r>
            <a:r>
              <a:rPr sz="4400" dirty="0" err="1"/>
              <a:t>개인</a:t>
            </a:r>
            <a:r>
              <a:rPr sz="4400" dirty="0"/>
              <a:t> </a:t>
            </a:r>
            <a:r>
              <a:rPr sz="4400" dirty="0" err="1"/>
              <a:t>맞춤</a:t>
            </a:r>
            <a:r>
              <a:rPr sz="4400" dirty="0"/>
              <a:t> </a:t>
            </a:r>
            <a:r>
              <a:rPr sz="4400" dirty="0" err="1"/>
              <a:t>목표</a:t>
            </a:r>
            <a:r>
              <a:rPr sz="4400" dirty="0"/>
              <a:t> </a:t>
            </a:r>
            <a:r>
              <a:rPr sz="4400" dirty="0" err="1"/>
              <a:t>설정</a:t>
            </a:r>
            <a:r>
              <a:rPr sz="4400" dirty="0"/>
              <a:t> : </a:t>
            </a:r>
            <a:r>
              <a:rPr sz="4400" dirty="0" err="1"/>
              <a:t>사용자의</a:t>
            </a:r>
            <a:r>
              <a:rPr sz="4400" dirty="0"/>
              <a:t> </a:t>
            </a:r>
            <a:r>
              <a:rPr sz="4400" dirty="0" err="1"/>
              <a:t>건강</a:t>
            </a:r>
            <a:r>
              <a:rPr sz="4400" dirty="0"/>
              <a:t> </a:t>
            </a:r>
            <a:r>
              <a:rPr sz="4400" dirty="0" err="1"/>
              <a:t>상태와</a:t>
            </a:r>
            <a:r>
              <a:rPr sz="4400" dirty="0"/>
              <a:t> </a:t>
            </a:r>
            <a:r>
              <a:rPr sz="4400" dirty="0" err="1"/>
              <a:t>목표에</a:t>
            </a:r>
            <a:r>
              <a:rPr sz="4400" dirty="0"/>
              <a:t> </a:t>
            </a:r>
            <a:r>
              <a:rPr sz="4400" dirty="0" err="1"/>
              <a:t>맞춘</a:t>
            </a:r>
            <a:r>
              <a:rPr sz="4400" dirty="0"/>
              <a:t> </a:t>
            </a:r>
            <a:r>
              <a:rPr sz="4400" dirty="0" err="1"/>
              <a:t>맞춤형</a:t>
            </a:r>
            <a:r>
              <a:rPr sz="4400" dirty="0"/>
              <a:t> </a:t>
            </a:r>
            <a:r>
              <a:rPr sz="4400" dirty="0" err="1"/>
              <a:t>건강</a:t>
            </a:r>
            <a:r>
              <a:rPr sz="4400" dirty="0"/>
              <a:t> </a:t>
            </a:r>
            <a:r>
              <a:rPr sz="4400" dirty="0" err="1"/>
              <a:t>목표</a:t>
            </a:r>
            <a:r>
              <a:rPr sz="4400" dirty="0"/>
              <a:t> </a:t>
            </a:r>
            <a:r>
              <a:rPr sz="4400" dirty="0" err="1"/>
              <a:t>설정</a:t>
            </a:r>
            <a:r>
              <a:rPr sz="4400" dirty="0"/>
              <a:t> </a:t>
            </a:r>
          </a:p>
          <a:p>
            <a:pPr marL="596900" lvl="1" indent="0">
              <a:spcBef>
                <a:spcPts val="2000"/>
              </a:spcBef>
              <a:buSzPct val="123000"/>
              <a:defRPr sz="3500"/>
            </a:pPr>
            <a:r>
              <a:rPr lang="ko-KR" altLang="en-US" sz="4400" dirty="0"/>
              <a:t>◦ </a:t>
            </a:r>
            <a:r>
              <a:rPr sz="4400" dirty="0" err="1"/>
              <a:t>진행</a:t>
            </a:r>
            <a:r>
              <a:rPr sz="4400" dirty="0"/>
              <a:t> </a:t>
            </a:r>
            <a:r>
              <a:rPr sz="4400" dirty="0" err="1"/>
              <a:t>상황</a:t>
            </a:r>
            <a:r>
              <a:rPr sz="4400" dirty="0"/>
              <a:t> </a:t>
            </a:r>
            <a:r>
              <a:rPr sz="4400" dirty="0" err="1"/>
              <a:t>모니터링</a:t>
            </a:r>
            <a:r>
              <a:rPr sz="4400" dirty="0"/>
              <a:t> : </a:t>
            </a:r>
            <a:r>
              <a:rPr sz="4400" dirty="0" err="1"/>
              <a:t>설정한</a:t>
            </a:r>
            <a:r>
              <a:rPr sz="4400" dirty="0"/>
              <a:t> </a:t>
            </a:r>
            <a:r>
              <a:rPr sz="4400" dirty="0" err="1"/>
              <a:t>목표에</a:t>
            </a:r>
            <a:r>
              <a:rPr sz="4400" dirty="0"/>
              <a:t> </a:t>
            </a:r>
            <a:r>
              <a:rPr sz="4400" dirty="0" err="1"/>
              <a:t>대한</a:t>
            </a:r>
            <a:r>
              <a:rPr sz="4400" dirty="0"/>
              <a:t> </a:t>
            </a:r>
            <a:r>
              <a:rPr sz="4400" dirty="0" err="1"/>
              <a:t>진행상황</a:t>
            </a:r>
            <a:r>
              <a:rPr sz="4400" dirty="0"/>
              <a:t> </a:t>
            </a:r>
            <a:r>
              <a:rPr sz="4400" dirty="0" err="1"/>
              <a:t>지속적으로</a:t>
            </a:r>
            <a:r>
              <a:rPr sz="4400" dirty="0"/>
              <a:t> </a:t>
            </a:r>
            <a:r>
              <a:rPr sz="4400" dirty="0" err="1"/>
              <a:t>모니터링</a:t>
            </a:r>
            <a:endParaRPr sz="4400" dirty="0"/>
          </a:p>
          <a:p>
            <a:pPr marL="139700">
              <a:spcBef>
                <a:spcPts val="2000"/>
              </a:spcBef>
              <a:buSzPct val="123000"/>
              <a:defRPr sz="3500"/>
            </a:pPr>
            <a:r>
              <a:rPr lang="en-US" altLang="ko-KR" sz="4400" b="1" dirty="0"/>
              <a:t>4</a:t>
            </a:r>
            <a:r>
              <a:rPr lang="en-US" sz="4400" b="1" dirty="0"/>
              <a:t>. </a:t>
            </a:r>
            <a:r>
              <a:rPr sz="4400" b="1" dirty="0" err="1"/>
              <a:t>건강</a:t>
            </a:r>
            <a:r>
              <a:rPr sz="4400" b="1" dirty="0"/>
              <a:t> </a:t>
            </a:r>
            <a:r>
              <a:rPr sz="4400" b="1" dirty="0" err="1"/>
              <a:t>정보</a:t>
            </a:r>
            <a:r>
              <a:rPr sz="4400" b="1" dirty="0"/>
              <a:t> </a:t>
            </a:r>
            <a:r>
              <a:rPr sz="4400" b="1" dirty="0" err="1"/>
              <a:t>교육</a:t>
            </a:r>
            <a:r>
              <a:rPr sz="4400" b="1" dirty="0"/>
              <a:t> </a:t>
            </a:r>
          </a:p>
          <a:p>
            <a:pPr marL="596900" lvl="1" indent="0">
              <a:spcBef>
                <a:spcPts val="2000"/>
              </a:spcBef>
              <a:buSzPct val="123000"/>
              <a:defRPr sz="3500"/>
            </a:pPr>
            <a:r>
              <a:rPr lang="ko-KR" altLang="en-US" sz="4400" dirty="0"/>
              <a:t>◦ </a:t>
            </a:r>
            <a:r>
              <a:rPr sz="4400" dirty="0" err="1"/>
              <a:t>건강</a:t>
            </a:r>
            <a:r>
              <a:rPr sz="4400" dirty="0"/>
              <a:t> </a:t>
            </a:r>
            <a:r>
              <a:rPr sz="4400" dirty="0" err="1"/>
              <a:t>관련</a:t>
            </a:r>
            <a:r>
              <a:rPr sz="4400" dirty="0"/>
              <a:t> </a:t>
            </a:r>
            <a:r>
              <a:rPr sz="4400" dirty="0" err="1"/>
              <a:t>정보</a:t>
            </a:r>
            <a:r>
              <a:rPr sz="4400" dirty="0"/>
              <a:t> </a:t>
            </a:r>
            <a:r>
              <a:rPr sz="4400" dirty="0" err="1"/>
              <a:t>제공</a:t>
            </a:r>
            <a:r>
              <a:rPr sz="4400" dirty="0"/>
              <a:t> : </a:t>
            </a:r>
            <a:r>
              <a:rPr sz="4400" dirty="0" err="1"/>
              <a:t>질병</a:t>
            </a:r>
            <a:r>
              <a:rPr sz="4400" dirty="0"/>
              <a:t> </a:t>
            </a:r>
            <a:r>
              <a:rPr sz="4400" dirty="0" err="1"/>
              <a:t>예방</a:t>
            </a:r>
            <a:r>
              <a:rPr sz="4400" dirty="0"/>
              <a:t>, </a:t>
            </a:r>
            <a:r>
              <a:rPr sz="4400" dirty="0" err="1"/>
              <a:t>건강</a:t>
            </a:r>
            <a:r>
              <a:rPr sz="4400" dirty="0"/>
              <a:t> </a:t>
            </a:r>
            <a:r>
              <a:rPr sz="4400" dirty="0" err="1"/>
              <a:t>증진</a:t>
            </a:r>
            <a:r>
              <a:rPr sz="4400" dirty="0"/>
              <a:t> </a:t>
            </a:r>
            <a:r>
              <a:rPr sz="4400" dirty="0" err="1"/>
              <a:t>방법</a:t>
            </a:r>
            <a:r>
              <a:rPr sz="4400" dirty="0"/>
              <a:t> </a:t>
            </a:r>
            <a:r>
              <a:rPr sz="4400" dirty="0" err="1"/>
              <a:t>등에</a:t>
            </a:r>
            <a:r>
              <a:rPr sz="4400" dirty="0"/>
              <a:t> </a:t>
            </a:r>
            <a:r>
              <a:rPr sz="4400" dirty="0" err="1"/>
              <a:t>대한</a:t>
            </a:r>
            <a:r>
              <a:rPr sz="4400" dirty="0"/>
              <a:t> </a:t>
            </a:r>
            <a:r>
              <a:rPr sz="4400" dirty="0" err="1"/>
              <a:t>정보</a:t>
            </a:r>
            <a:r>
              <a:rPr sz="4400" dirty="0"/>
              <a:t> </a:t>
            </a:r>
            <a:r>
              <a:rPr sz="4400" dirty="0" err="1"/>
              <a:t>제공</a:t>
            </a:r>
            <a:endParaRPr sz="4400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연어 어묵, 샐러드, 후무스가 든 그릇" descr="연어 어묵, 샐러드, 후무스가 든 그릇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10038" t="10422" r="29" b="10512"/>
          <a:stretch>
            <a:fillRect/>
          </a:stretch>
        </p:blipFill>
        <p:spPr>
          <a:xfrm>
            <a:off x="12192000" y="1270000"/>
            <a:ext cx="10922000" cy="11176000"/>
          </a:xfrm>
          <a:prstGeom prst="rect">
            <a:avLst/>
          </a:prstGeom>
        </p:spPr>
      </p:pic>
      <p:sp>
        <p:nvSpPr>
          <p:cNvPr id="235" name="기대 효과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기대 효과</a:t>
            </a:r>
          </a:p>
        </p:txBody>
      </p:sp>
      <p:sp>
        <p:nvSpPr>
          <p:cNvPr id="236" name="해당 프로젝트를 통한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해당 프로젝트를 통한</a:t>
            </a:r>
          </a:p>
          <a:p>
            <a:r>
              <a:t>기대효과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기대 효과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z="8245" spc="-164"/>
            </a:lvl1pPr>
          </a:lstStyle>
          <a:p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효과</a:t>
            </a:r>
            <a:endParaRPr dirty="0"/>
          </a:p>
        </p:txBody>
      </p:sp>
      <p:sp>
        <p:nvSpPr>
          <p:cNvPr id="239" name="해당 프로젝트를 통한 기대 효과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프로젝트를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효과</a:t>
            </a:r>
            <a:endParaRPr dirty="0"/>
          </a:p>
        </p:txBody>
      </p:sp>
      <p:sp>
        <p:nvSpPr>
          <p:cNvPr id="240" name="건강 형태 개선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/>
          <a:p>
            <a:pPr marL="139700" indent="0">
              <a:buSzPct val="100000"/>
              <a:buNone/>
            </a:pPr>
            <a:r>
              <a:rPr lang="en-US" sz="5400" dirty="0"/>
              <a:t>1. </a:t>
            </a:r>
            <a:r>
              <a:rPr sz="5400" dirty="0" err="1"/>
              <a:t>건강</a:t>
            </a:r>
            <a:r>
              <a:rPr sz="5400" dirty="0"/>
              <a:t> </a:t>
            </a:r>
            <a:r>
              <a:rPr sz="5400" dirty="0" err="1"/>
              <a:t>형태</a:t>
            </a:r>
            <a:r>
              <a:rPr sz="5400" dirty="0"/>
              <a:t> </a:t>
            </a:r>
            <a:r>
              <a:rPr sz="5400" dirty="0" err="1"/>
              <a:t>개선</a:t>
            </a:r>
            <a:endParaRPr lang="ko-KR" altLang="en-US" sz="5400" dirty="0"/>
          </a:p>
          <a:p>
            <a:pPr marL="139700" indent="0">
              <a:buSzPct val="100000"/>
              <a:buNone/>
            </a:pPr>
            <a:r>
              <a:rPr lang="en-US" altLang="ko-KR" sz="5400" dirty="0"/>
              <a:t>2. </a:t>
            </a:r>
            <a:r>
              <a:rPr lang="ko-KR" altLang="en-US" sz="5400" dirty="0"/>
              <a:t>질병 예방 및 관리 강화</a:t>
            </a:r>
            <a:endParaRPr lang="en-US" altLang="ko-KR" sz="5400" dirty="0"/>
          </a:p>
          <a:p>
            <a:pPr marL="139700" indent="0">
              <a:buSzPct val="100000"/>
              <a:buNone/>
            </a:pPr>
            <a:r>
              <a:rPr lang="en-US" sz="5400" dirty="0"/>
              <a:t>3. </a:t>
            </a:r>
            <a:r>
              <a:rPr sz="5400" dirty="0" err="1"/>
              <a:t>개인화된</a:t>
            </a:r>
            <a:r>
              <a:rPr sz="5400" dirty="0"/>
              <a:t> </a:t>
            </a:r>
            <a:r>
              <a:rPr sz="5400" dirty="0" err="1"/>
              <a:t>건강</a:t>
            </a:r>
            <a:r>
              <a:rPr sz="5400" dirty="0"/>
              <a:t> </a:t>
            </a:r>
            <a:r>
              <a:rPr sz="5400" dirty="0" err="1"/>
              <a:t>관리</a:t>
            </a:r>
            <a:r>
              <a:rPr sz="5400" dirty="0"/>
              <a:t> </a:t>
            </a:r>
            <a:r>
              <a:rPr sz="5400" dirty="0" err="1"/>
              <a:t>계획</a:t>
            </a:r>
            <a:endParaRPr lang="en-US" sz="5400" dirty="0"/>
          </a:p>
          <a:p>
            <a:pPr marL="139700" indent="0">
              <a:buSzPct val="100000"/>
              <a:buNone/>
            </a:pPr>
            <a:endParaRPr sz="5400" dirty="0"/>
          </a:p>
          <a:p>
            <a:pPr marL="0" indent="0">
              <a:buSzTx/>
              <a:buNone/>
            </a:pPr>
            <a:r>
              <a:rPr sz="5400" dirty="0" err="1"/>
              <a:t>해당</a:t>
            </a:r>
            <a:r>
              <a:rPr sz="5400" dirty="0"/>
              <a:t> </a:t>
            </a:r>
            <a:r>
              <a:rPr sz="5400" dirty="0" err="1"/>
              <a:t>프로젝트를</a:t>
            </a:r>
            <a:r>
              <a:rPr sz="5400" dirty="0"/>
              <a:t> </a:t>
            </a:r>
            <a:r>
              <a:rPr sz="5400" dirty="0" err="1"/>
              <a:t>통해</a:t>
            </a:r>
            <a:r>
              <a:rPr sz="5400" dirty="0"/>
              <a:t> </a:t>
            </a:r>
            <a:r>
              <a:rPr lang="ko-KR" altLang="en-US" sz="5400" dirty="0"/>
              <a:t>위와 같은 내용을 </a:t>
            </a:r>
            <a:r>
              <a:rPr sz="5400" dirty="0" err="1"/>
              <a:t>기대할</a:t>
            </a:r>
            <a:r>
              <a:rPr sz="5400" dirty="0"/>
              <a:t> 수 있</a:t>
            </a:r>
            <a:r>
              <a:rPr lang="ko-KR" altLang="en-US" sz="5400" dirty="0"/>
              <a:t>음</a:t>
            </a:r>
            <a:endParaRPr sz="540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사용자 지정 1">
      <a:majorFont>
        <a:latin typeface="HY신명조"/>
        <a:ea typeface="HY신명조"/>
        <a:cs typeface="Helvetica Neue"/>
      </a:majorFont>
      <a:minorFont>
        <a:latin typeface="HY신명조"/>
        <a:ea typeface="HY신명조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6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6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336</Words>
  <Application>Microsoft Office PowerPoint</Application>
  <PresentationFormat>사용자 지정</PresentationFormat>
  <Paragraphs>73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Helvetica Neue</vt:lpstr>
      <vt:lpstr>Helvetica Neue Medium</vt:lpstr>
      <vt:lpstr>HY신명조</vt:lpstr>
      <vt:lpstr>21_BasicWhite</vt:lpstr>
      <vt:lpstr>주제 : 개인 건강 관리 앱</vt:lpstr>
      <vt:lpstr>팀명 &amp; 팀 구성원</vt:lpstr>
      <vt:lpstr>팀 소개</vt:lpstr>
      <vt:lpstr>앱 개발 주제</vt:lpstr>
      <vt:lpstr>앱 개발 주제</vt:lpstr>
      <vt:lpstr>앱 개발 주제</vt:lpstr>
      <vt:lpstr>앱 개발의 필요성</vt:lpstr>
      <vt:lpstr>앱 개발 필요성</vt:lpstr>
      <vt:lpstr>전체 Mindmap</vt:lpstr>
      <vt:lpstr>전체 마인드맵</vt:lpstr>
      <vt:lpstr>전체 마인드맵</vt:lpstr>
      <vt:lpstr>기대 효과</vt:lpstr>
      <vt:lpstr>기대 효과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: 개인 건강 관리 앱</dc:title>
  <cp:lastModifiedBy>세미 신</cp:lastModifiedBy>
  <cp:revision>3</cp:revision>
  <dcterms:modified xsi:type="dcterms:W3CDTF">2024-04-27T13:26:53Z</dcterms:modified>
</cp:coreProperties>
</file>