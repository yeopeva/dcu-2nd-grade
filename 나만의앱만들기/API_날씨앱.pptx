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CF307-F469-4EBE-856C-2B1580D63460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DA88C-01F9-49B9-BE4F-671301190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293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FDA88C-01F9-49B9-BE4F-67130119067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94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381DB-BDF8-ADE5-1E73-EE16886B4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03992B-F374-DF7A-6594-33717B09C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18501C-0532-5B38-4C9E-01784E9BF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056EA-607B-4E28-8C1E-2125DA02DC3C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7FA66B-E6EC-A759-5DCF-C561CCA1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388172-7C4C-EF76-28B5-9803443E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4A140-B20D-4A42-BC6A-BB55A5F3F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483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18A405-7EEF-E8BE-90E8-6DEE1E07B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757" y="95300"/>
            <a:ext cx="5544766" cy="974743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AADC5C-C2B4-742E-764A-8629F0B2A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750F98-5B8D-A1BD-3BF2-C7A586563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056EA-607B-4E28-8C1E-2125DA02DC3C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B69645-1F5A-3127-65A1-60CCE7157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E91CCC-4A6D-5001-8CD6-1FF0F2531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4A140-B20D-4A42-BC6A-BB55A5F3F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96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9EC43-3D58-F61C-5151-4D7471DC6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A05907-BA79-C784-805E-B8A96E405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8B8C78-AE54-FF0B-26C3-165C510C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056EA-607B-4E28-8C1E-2125DA02DC3C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B405CD-F9DE-63BA-C9EB-15BDC143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45CAC7-9F27-9C58-4A49-8C6419A8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4A140-B20D-4A42-BC6A-BB55A5F3F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47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ACF9D7-811F-CB5B-098E-DF21978B2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21" y="-136187"/>
            <a:ext cx="4696838" cy="100804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063EEF-811B-D319-AC60-79D398DF8F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E8E9C4-D7E9-9665-F491-C7D5997EC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5B9B96-C12B-8997-BDD9-67B20534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056EA-607B-4E28-8C1E-2125DA02DC3C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F00F1B-62DC-65FF-9442-CAF896CFF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09F6A1-96B5-C6F2-043E-089427B3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4A140-B20D-4A42-BC6A-BB55A5F3F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472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AC3BC-3706-C3D0-42E8-9F3F5616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70D068-B2D7-8396-5FF3-96A72476A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5ED9A9-ADE3-8769-6E1B-D783897E2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94F423-0700-4C1E-45C1-BBA31E293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4E3618-1397-A3FA-F25F-6FED77E19F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F48A00-DA71-0C36-4414-CED4FF7F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056EA-607B-4E28-8C1E-2125DA02DC3C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1EDAD9F-7033-FC47-A19A-535C89C2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08E34E-524A-8A2F-D8AE-BF6A3AB30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4A140-B20D-4A42-BC6A-BB55A5F3F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847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5A6AC-7716-E494-0288-C144618E0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ECE730-8683-977C-25D6-C50E7DC5C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056EA-607B-4E28-8C1E-2125DA02DC3C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9B70CD-1C2C-9009-A456-59092B1D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B020E9-AFDB-63C0-B747-8724A29B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4A140-B20D-4A42-BC6A-BB55A5F3F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618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0FF3F8-810A-8886-B43B-B822E43D7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056EA-607B-4E28-8C1E-2125DA02DC3C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EE1E5E5-B923-979A-6561-678BCB7E8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04C00A-046D-022D-B30D-2B1F3E09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4A140-B20D-4A42-BC6A-BB55A5F3F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679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DA2E6-669F-DD53-674A-6845FDEC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5EFA0-93F0-3C2D-ED9C-6818C15E2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AE3908-3AF2-2D26-F987-4475E55F8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99153B-9F86-8543-BB35-E2781AAE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056EA-607B-4E28-8C1E-2125DA02DC3C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70F676-0CDC-748A-8428-BD145113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DE75D8-A71D-3219-5E49-43976A87E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4A140-B20D-4A42-BC6A-BB55A5F3F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58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F6223-7C56-4825-AD75-A3DDD7812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DA8663F-8E2F-419D-3965-A634E4E173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B584C9-23F7-3386-A996-E1D630586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DEBB73-C78A-E866-0DEA-CF6B53CA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056EA-607B-4E28-8C1E-2125DA02DC3C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E54279-5EB6-ED5C-CA95-5D51D6FEB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500C9C-53EC-045E-A3B5-D6DF600D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4A140-B20D-4A42-BC6A-BB55A5F3F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10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CDBF3-410E-EB88-D995-1E45AC41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E005FA-8961-EBB9-CDF5-A88C2CF4D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8C2FAD-F2BE-82AE-FA2C-BBEC218C6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056EA-607B-4E28-8C1E-2125DA02DC3C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5F478F-D8DC-42FE-8C0E-80614610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CCDB9-179F-3D65-395E-5FBEDEDC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4A140-B20D-4A42-BC6A-BB55A5F3F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566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6DD8F06-644A-BC6E-8CFA-23AB93261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CA579E-ACE0-B8C0-2625-39F123E2B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04EDD7-3DCE-4E38-BE61-6A0E2D8CD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056EA-607B-4E28-8C1E-2125DA02DC3C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518405-064B-6722-45B1-AF5F8C0F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3E0C00-674E-07F8-BC95-40DD98866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4A140-B20D-4A42-BC6A-BB55A5F3F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3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3E50ED-CA0E-BC42-711B-B7201FF61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75" y="-56002"/>
            <a:ext cx="4696838" cy="1008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BF1A77-8494-BB5C-70DD-B6F460FDC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EC1F4E-2909-2DD9-5750-E6474E895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056EA-607B-4E28-8C1E-2125DA02DC3C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B176B6-212B-538A-2B88-01C002A20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B6C793-9EFB-D343-38D0-399D20630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4A140-B20D-4A42-BC6A-BB55A5F3FBA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DC8894-506F-F22D-C15B-377D04DDAA74}"/>
              </a:ext>
            </a:extLst>
          </p:cNvPr>
          <p:cNvSpPr/>
          <p:nvPr userDrawn="1"/>
        </p:nvSpPr>
        <p:spPr>
          <a:xfrm>
            <a:off x="575552" y="745499"/>
            <a:ext cx="7394643" cy="157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33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openweathermap.org/" TargetMode="External"/><Relationship Id="rId2" Type="http://schemas.openxmlformats.org/officeDocument/2006/relationships/hyperlink" Target="https://api.openweathermap.org/data/2.5/forecast?id=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i.openweathermap.org/data/2.5/forecast?id=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006DA6A-CBF8-00F3-21AF-F4D9F8D3D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1" y="44336"/>
            <a:ext cx="6929284" cy="825910"/>
          </a:xfrm>
        </p:spPr>
        <p:txBody>
          <a:bodyPr>
            <a:normAutofit/>
          </a:bodyPr>
          <a:lstStyle/>
          <a:p>
            <a:r>
              <a:rPr lang="ko-KR" altLang="en-US" sz="3200" dirty="0"/>
              <a:t>날씨 관련 </a:t>
            </a:r>
            <a:r>
              <a:rPr lang="en-US" altLang="ko-KR" sz="3200" dirty="0"/>
              <a:t>API key </a:t>
            </a:r>
            <a:r>
              <a:rPr lang="ko-KR" altLang="en-US" sz="3200" dirty="0"/>
              <a:t>발급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C3532B4-17FE-5C7E-34A0-36637CAD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217" y="1430311"/>
            <a:ext cx="11827566" cy="4351338"/>
          </a:xfrm>
        </p:spPr>
        <p:txBody>
          <a:bodyPr>
            <a:noAutofit/>
          </a:bodyPr>
          <a:lstStyle/>
          <a:p>
            <a:r>
              <a:rPr lang="en-US" altLang="ko-KR" dirty="0"/>
              <a:t>API(Application</a:t>
            </a:r>
            <a:r>
              <a:rPr lang="ko-KR" altLang="en-US" dirty="0"/>
              <a:t> </a:t>
            </a:r>
            <a:r>
              <a:rPr lang="en-US" altLang="ko-KR" dirty="0"/>
              <a:t>programming Interface)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소프트웨어 애플리케이션과 다른 소프트웨어 애플리케이션 또는 시스템 간의 상호작용을 </a:t>
            </a:r>
            <a:r>
              <a:rPr lang="ko-KR" altLang="en-US" sz="2000" dirty="0" err="1"/>
              <a:t>가능하게하는</a:t>
            </a:r>
            <a:r>
              <a:rPr lang="ko-KR" altLang="en-US" sz="2000" dirty="0"/>
              <a:t> 인터페이스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다른 개발자가 개발한 기능을 쉽게 호출하고 활용 가능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웹 애플리케이션과 모바일 애플리케이션에서 사용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웹 애플리케이션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서버측에서</a:t>
            </a:r>
            <a:r>
              <a:rPr lang="ko-KR" altLang="en-US" sz="2000" dirty="0"/>
              <a:t> </a:t>
            </a:r>
            <a:r>
              <a:rPr lang="en-US" altLang="ko-KR" sz="2000" dirty="0"/>
              <a:t>API</a:t>
            </a:r>
            <a:r>
              <a:rPr lang="ko-KR" altLang="en-US" sz="2000" dirty="0"/>
              <a:t>를 제공하고</a:t>
            </a:r>
            <a:r>
              <a:rPr lang="en-US" altLang="ko-KR" sz="2000" dirty="0"/>
              <a:t>, </a:t>
            </a:r>
            <a:r>
              <a:rPr lang="ko-KR" altLang="en-US" sz="2000" dirty="0"/>
              <a:t>클라이언트 측에서 이를 호출하여 웹 페이지를 동적으로 생성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모바일 애플리케이션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API</a:t>
            </a:r>
            <a:r>
              <a:rPr lang="ko-KR" altLang="en-US" sz="2000" dirty="0"/>
              <a:t>를 호출하여 서버에서 데이터를 받아오거나</a:t>
            </a:r>
            <a:r>
              <a:rPr lang="en-US" altLang="ko-KR" sz="2000" dirty="0"/>
              <a:t>, </a:t>
            </a:r>
            <a:r>
              <a:rPr lang="ko-KR" altLang="en-US" sz="2000" dirty="0"/>
              <a:t>서버에 데이터를 전송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3297A-CEE5-AAC0-B43C-4BB340CACCD8}"/>
              </a:ext>
            </a:extLst>
          </p:cNvPr>
          <p:cNvSpPr txBox="1"/>
          <p:nvPr/>
        </p:nvSpPr>
        <p:spPr>
          <a:xfrm>
            <a:off x="8949446" y="6341714"/>
            <a:ext cx="334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Openweather_texttospeech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838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006DA6A-CBF8-00F3-21AF-F4D9F8D3D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1" y="44336"/>
            <a:ext cx="6929284" cy="825910"/>
          </a:xfrm>
        </p:spPr>
        <p:txBody>
          <a:bodyPr>
            <a:normAutofit/>
          </a:bodyPr>
          <a:lstStyle/>
          <a:p>
            <a:r>
              <a:rPr lang="ko-KR" altLang="en-US" sz="3200" dirty="0"/>
              <a:t>날씨 관련 </a:t>
            </a:r>
            <a:r>
              <a:rPr lang="en-US" altLang="ko-KR" sz="3200" dirty="0"/>
              <a:t>API key </a:t>
            </a:r>
            <a:r>
              <a:rPr lang="ko-KR" altLang="en-US" sz="3200" dirty="0"/>
              <a:t>발급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C3532B4-17FE-5C7E-34A0-36637CAD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192" y="1157937"/>
            <a:ext cx="12052570" cy="4351338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Openweather</a:t>
            </a:r>
            <a:r>
              <a:rPr lang="ko-KR" altLang="en-US" sz="2400" dirty="0"/>
              <a:t>는 </a:t>
            </a:r>
            <a:r>
              <a:rPr lang="en-US" altLang="ko-KR" sz="2400" dirty="0"/>
              <a:t>API</a:t>
            </a:r>
            <a:r>
              <a:rPr lang="ko-KR" altLang="en-US" sz="2400" dirty="0"/>
              <a:t>로 전세계 날씨 데이터를 제공하는 온라인 서비스</a:t>
            </a:r>
            <a:endParaRPr lang="en-US" altLang="ko-KR" sz="2400" dirty="0"/>
          </a:p>
          <a:p>
            <a:r>
              <a:rPr lang="en-US" altLang="ko-KR" sz="24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https://api.openweathermap.org/data/2.5/forecast?</a:t>
            </a:r>
            <a:r>
              <a:rPr lang="en-US" altLang="ko-KR" sz="2400" b="1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id=</a:t>
            </a:r>
            <a:r>
              <a:rPr lang="ko-KR" altLang="en-US" sz="2400" b="1" dirty="0">
                <a:solidFill>
                  <a:srgbClr val="FF0000"/>
                </a:solidFill>
              </a:rPr>
              <a:t>도시번호</a:t>
            </a:r>
            <a:r>
              <a:rPr lang="en-US" altLang="ko-KR" sz="2400" dirty="0"/>
              <a:t>&amp;</a:t>
            </a:r>
            <a:r>
              <a:rPr lang="en-US" altLang="ko-KR" sz="2400" b="1" dirty="0" err="1">
                <a:solidFill>
                  <a:srgbClr val="FF0000"/>
                </a:solidFill>
              </a:rPr>
              <a:t>appid</a:t>
            </a:r>
            <a:r>
              <a:rPr lang="en-US" altLang="ko-KR" sz="2400" b="1" dirty="0">
                <a:solidFill>
                  <a:srgbClr val="FF0000"/>
                </a:solidFill>
              </a:rPr>
              <a:t>=</a:t>
            </a:r>
            <a:r>
              <a:rPr lang="en-US" altLang="ko-KR" sz="2400" b="1" dirty="0" err="1">
                <a:solidFill>
                  <a:srgbClr val="FF0000"/>
                </a:solidFill>
              </a:rPr>
              <a:t>APIkey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en-US" altLang="ko-KR" sz="2400" dirty="0"/>
              <a:t>Id : </a:t>
            </a:r>
            <a:r>
              <a:rPr lang="ko-KR" altLang="en-US" sz="2400" dirty="0"/>
              <a:t>날씨정보를 얻고자 하는 도시명의 고유 아이디번호</a:t>
            </a:r>
            <a:endParaRPr lang="en-US" altLang="ko-KR" sz="2400" dirty="0"/>
          </a:p>
          <a:p>
            <a:r>
              <a:rPr lang="en-US" altLang="ko-KR" sz="2400" dirty="0" err="1"/>
              <a:t>appid</a:t>
            </a:r>
            <a:r>
              <a:rPr lang="en-US" altLang="ko-KR" sz="2400" dirty="0"/>
              <a:t> : </a:t>
            </a:r>
            <a:r>
              <a:rPr lang="ko-KR" altLang="en-US" sz="2400" dirty="0"/>
              <a:t>가입 및 로그인 후 발급받게 되는 고유한 </a:t>
            </a:r>
            <a:r>
              <a:rPr lang="en-US" altLang="ko-KR" sz="2400" dirty="0"/>
              <a:t>API</a:t>
            </a:r>
            <a:r>
              <a:rPr lang="ko-KR" altLang="en-US" sz="2400" dirty="0"/>
              <a:t>키</a:t>
            </a:r>
            <a:endParaRPr lang="en-US" altLang="ko-KR" sz="2400" dirty="0"/>
          </a:p>
          <a:p>
            <a:r>
              <a:rPr lang="en-US" altLang="ko-KR" sz="2400" dirty="0"/>
              <a:t>Openweathermap.org </a:t>
            </a:r>
            <a:r>
              <a:rPr lang="ko-KR" altLang="en-US" sz="2400" dirty="0"/>
              <a:t>접속 </a:t>
            </a:r>
            <a:r>
              <a:rPr lang="en-US" altLang="ko-KR" sz="2400" dirty="0"/>
              <a:t>-&gt; Sign In</a:t>
            </a:r>
            <a:endParaRPr lang="ko-KR" altLang="en-US" sz="2400" dirty="0"/>
          </a:p>
        </p:txBody>
      </p:sp>
      <p:pic>
        <p:nvPicPr>
          <p:cNvPr id="7" name="그림 6">
            <a:hlinkClick r:id="rId3"/>
            <a:extLst>
              <a:ext uri="{FF2B5EF4-FFF2-40B4-BE49-F238E27FC236}">
                <a16:creationId xmlns:a16="http://schemas.microsoft.com/office/drawing/2014/main" id="{C9526B74-78D6-9741-1E06-07A2152E4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219" y="3540868"/>
            <a:ext cx="9586452" cy="327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6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58E50-0695-E86A-CC76-5AB01DA00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8" y="25496"/>
            <a:ext cx="6644933" cy="974743"/>
          </a:xfrm>
        </p:spPr>
        <p:txBody>
          <a:bodyPr/>
          <a:lstStyle/>
          <a:p>
            <a:r>
              <a:rPr lang="ko-KR" altLang="en-US" dirty="0"/>
              <a:t>계정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7EF71A-032F-1353-ED7D-58A7E683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677"/>
            <a:ext cx="11353800" cy="435133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Create an Account </a:t>
            </a:r>
            <a:r>
              <a:rPr lang="ko-KR" altLang="en-US" sz="2400" dirty="0"/>
              <a:t>클릭하여 이름</a:t>
            </a:r>
            <a:r>
              <a:rPr lang="en-US" altLang="ko-KR" sz="2400" dirty="0"/>
              <a:t>, </a:t>
            </a:r>
            <a:r>
              <a:rPr lang="ko-KR" altLang="en-US" sz="2400" dirty="0"/>
              <a:t>메일주소</a:t>
            </a:r>
            <a:r>
              <a:rPr lang="en-US" altLang="ko-KR" sz="2400" dirty="0"/>
              <a:t>, </a:t>
            </a:r>
            <a:r>
              <a:rPr lang="ko-KR" altLang="en-US" sz="2400" dirty="0"/>
              <a:t>비밀번호를 설정하고 계정생성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57D65C-B2A7-FBA7-A160-D6CC35009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67" y="2038698"/>
            <a:ext cx="3752877" cy="42449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97E877C-8214-6F53-B74E-3A851DBEA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403" y="1863045"/>
            <a:ext cx="4075394" cy="459625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A766296-FF4F-EF62-F4C2-7BB2BAA6AA9D}"/>
              </a:ext>
            </a:extLst>
          </p:cNvPr>
          <p:cNvSpPr/>
          <p:nvPr/>
        </p:nvSpPr>
        <p:spPr>
          <a:xfrm>
            <a:off x="6902245" y="2743200"/>
            <a:ext cx="373626" cy="157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F313F9-63E9-4D51-7A6A-8A3945D162E5}"/>
              </a:ext>
            </a:extLst>
          </p:cNvPr>
          <p:cNvSpPr/>
          <p:nvPr/>
        </p:nvSpPr>
        <p:spPr>
          <a:xfrm>
            <a:off x="6921282" y="3205316"/>
            <a:ext cx="1541782" cy="157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DC546CB-409D-C5E3-70F7-85400460B8F5}"/>
              </a:ext>
            </a:extLst>
          </p:cNvPr>
          <p:cNvSpPr/>
          <p:nvPr/>
        </p:nvSpPr>
        <p:spPr>
          <a:xfrm>
            <a:off x="398834" y="5332852"/>
            <a:ext cx="2490281" cy="42801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B4C40FC2-E084-96EA-FB9F-9F380AB9F3BB}"/>
              </a:ext>
            </a:extLst>
          </p:cNvPr>
          <p:cNvSpPr/>
          <p:nvPr/>
        </p:nvSpPr>
        <p:spPr>
          <a:xfrm>
            <a:off x="3498443" y="3810978"/>
            <a:ext cx="817123" cy="7003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24C23C1-2868-FC69-031C-ABA32BC7C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411" y="3736157"/>
            <a:ext cx="3290508" cy="1838582"/>
          </a:xfrm>
          <a:prstGeom prst="rect">
            <a:avLst/>
          </a:prstGeom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8E0C000-01FF-1437-BBDB-C81E9CC08F88}"/>
              </a:ext>
            </a:extLst>
          </p:cNvPr>
          <p:cNvSpPr/>
          <p:nvPr/>
        </p:nvSpPr>
        <p:spPr>
          <a:xfrm>
            <a:off x="8359707" y="3646266"/>
            <a:ext cx="817123" cy="7003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35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AEBE73-3A8F-F856-C17F-22ECA18CC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717" y="-48798"/>
            <a:ext cx="8375411" cy="974743"/>
          </a:xfrm>
        </p:spPr>
        <p:txBody>
          <a:bodyPr/>
          <a:lstStyle/>
          <a:p>
            <a:r>
              <a:rPr lang="ko-KR" altLang="en-US" dirty="0"/>
              <a:t>본인의</a:t>
            </a:r>
            <a:r>
              <a:rPr lang="en-US" altLang="ko-KR" dirty="0"/>
              <a:t> API Key </a:t>
            </a:r>
            <a:r>
              <a:rPr lang="ko-KR" altLang="en-US" dirty="0"/>
              <a:t>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27E431-7FE8-E1B7-7C2B-3F961CDD6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147" y="2092664"/>
            <a:ext cx="4049029" cy="253827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EC31A54-D5BB-9033-F0A1-3FF71FB5D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17" y="2150490"/>
            <a:ext cx="3846443" cy="23388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60F517E-B5CE-998E-29F4-F2F12F4F0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17" y="4714539"/>
            <a:ext cx="11256787" cy="20481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6CFF43-9BAA-A1AC-8D05-E15434D53B24}"/>
              </a:ext>
            </a:extLst>
          </p:cNvPr>
          <p:cNvSpPr txBox="1"/>
          <p:nvPr/>
        </p:nvSpPr>
        <p:spPr>
          <a:xfrm>
            <a:off x="758756" y="1278912"/>
            <a:ext cx="8856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dirty="0"/>
              <a:t>가입한 메일 주소로 확정 메일을 받고 </a:t>
            </a:r>
            <a:r>
              <a:rPr lang="en-US" altLang="ko-KR" dirty="0"/>
              <a:t>‘Verify your email’</a:t>
            </a:r>
            <a:r>
              <a:rPr lang="ko-KR" altLang="en-US" dirty="0"/>
              <a:t>을 클릭하여 계정을 실증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dirty="0"/>
              <a:t>로그인한 아이디를 클릭하여 </a:t>
            </a:r>
            <a:r>
              <a:rPr lang="en-US" altLang="ko-KR" dirty="0"/>
              <a:t>‘My API Keys’</a:t>
            </a:r>
            <a:r>
              <a:rPr lang="ko-KR" altLang="en-US" dirty="0"/>
              <a:t>에서 자신의 </a:t>
            </a:r>
            <a:r>
              <a:rPr lang="en-US" altLang="ko-KR" dirty="0"/>
              <a:t>API</a:t>
            </a:r>
            <a:r>
              <a:rPr lang="ko-KR" altLang="en-US" dirty="0"/>
              <a:t>를 확인하고 복사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B570E71-7864-32AB-C6EA-D9AFB74DE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1687" y="2009061"/>
            <a:ext cx="2419688" cy="270547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0B6642E3-FC55-5532-E4E1-F17DB6E71D4E}"/>
              </a:ext>
            </a:extLst>
          </p:cNvPr>
          <p:cNvSpPr/>
          <p:nvPr/>
        </p:nvSpPr>
        <p:spPr>
          <a:xfrm>
            <a:off x="9293087" y="3190461"/>
            <a:ext cx="1530626" cy="3677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53A302D-7344-D62B-1806-DDD6162CDF28}"/>
              </a:ext>
            </a:extLst>
          </p:cNvPr>
          <p:cNvCxnSpPr/>
          <p:nvPr/>
        </p:nvCxnSpPr>
        <p:spPr>
          <a:xfrm flipH="1">
            <a:off x="2777546" y="3563597"/>
            <a:ext cx="6783016" cy="210709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770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AEBE73-3A8F-F856-C17F-22ECA18CC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65" y="0"/>
            <a:ext cx="5544766" cy="974743"/>
          </a:xfrm>
        </p:spPr>
        <p:txBody>
          <a:bodyPr/>
          <a:lstStyle/>
          <a:p>
            <a:r>
              <a:rPr lang="ko-KR" altLang="en-US" dirty="0"/>
              <a:t>지역별 </a:t>
            </a:r>
            <a:r>
              <a:rPr lang="en-US" altLang="ko-KR" dirty="0"/>
              <a:t>ID </a:t>
            </a:r>
            <a:r>
              <a:rPr lang="ko-KR" altLang="en-US" dirty="0"/>
              <a:t>찾기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C91A407-5834-F5BC-1A2F-5B5CC2332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98" y="1254788"/>
            <a:ext cx="6547538" cy="508718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D878924-8B98-5E50-0FC4-F842E3A284DE}"/>
              </a:ext>
            </a:extLst>
          </p:cNvPr>
          <p:cNvSpPr/>
          <p:nvPr/>
        </p:nvSpPr>
        <p:spPr>
          <a:xfrm>
            <a:off x="2534478" y="1254788"/>
            <a:ext cx="805070" cy="335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375585-783B-92F1-186E-E792FA3134B4}"/>
              </a:ext>
            </a:extLst>
          </p:cNvPr>
          <p:cNvSpPr/>
          <p:nvPr/>
        </p:nvSpPr>
        <p:spPr>
          <a:xfrm>
            <a:off x="1623391" y="3093527"/>
            <a:ext cx="4051852" cy="335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730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CF4B3-1D2B-E516-5E5D-398868A72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493" y="0"/>
            <a:ext cx="6877456" cy="974743"/>
          </a:xfrm>
        </p:spPr>
        <p:txBody>
          <a:bodyPr/>
          <a:lstStyle/>
          <a:p>
            <a:r>
              <a:rPr lang="ko-KR" altLang="en-US" dirty="0"/>
              <a:t>날씨정보 알려주는 앱 </a:t>
            </a:r>
            <a:r>
              <a:rPr lang="en-US" altLang="ko-KR" dirty="0"/>
              <a:t>UI </a:t>
            </a:r>
            <a:r>
              <a:rPr lang="ko-KR" altLang="en-US" dirty="0"/>
              <a:t>작성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6661D9B-06B3-4F95-8569-9B4F03A79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892" y="1155557"/>
            <a:ext cx="2495898" cy="52394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72FE1F0-B317-762B-FF64-7C40C4C68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78" y="1379293"/>
            <a:ext cx="3219856" cy="53088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76761A5-141D-B557-7E42-BBD2762AA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949" y="5714804"/>
            <a:ext cx="2448267" cy="104789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192675B-2257-8542-FCE1-EA3FF6AC6E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8701" y="331119"/>
            <a:ext cx="2959153" cy="523948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910663A-FC93-864C-ED9E-07072F5000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7659" y="412093"/>
            <a:ext cx="2000529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0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5D9FDB-020B-7C95-30B6-732896860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03" y="0"/>
            <a:ext cx="6887183" cy="974743"/>
          </a:xfrm>
        </p:spPr>
        <p:txBody>
          <a:bodyPr/>
          <a:lstStyle/>
          <a:p>
            <a:r>
              <a:rPr lang="ko-KR" altLang="en-US" dirty="0"/>
              <a:t>초기화 작업과 </a:t>
            </a:r>
            <a:r>
              <a:rPr lang="ko-KR" altLang="en-US" dirty="0" err="1"/>
              <a:t>도시별</a:t>
            </a:r>
            <a:r>
              <a:rPr lang="ko-KR" altLang="en-US" dirty="0"/>
              <a:t> </a:t>
            </a:r>
            <a:r>
              <a:rPr lang="en-US" altLang="ko-KR" dirty="0"/>
              <a:t>ID </a:t>
            </a:r>
            <a:r>
              <a:rPr lang="ko-KR" altLang="en-US" dirty="0"/>
              <a:t>지정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030210-2CA8-243D-89BE-6CB20263A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7069"/>
            <a:ext cx="11174384" cy="583011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B29DC45-F47E-84F9-DB1E-7E40ADB88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621" y="222113"/>
            <a:ext cx="5181214" cy="1171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1A5103-DF7B-132C-219C-E4B46D25B569}"/>
              </a:ext>
            </a:extLst>
          </p:cNvPr>
          <p:cNvSpPr txBox="1"/>
          <p:nvPr/>
        </p:nvSpPr>
        <p:spPr>
          <a:xfrm>
            <a:off x="7277510" y="3631738"/>
            <a:ext cx="42291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https://api.openweathermap.org/data/2.5/forecast?</a:t>
            </a:r>
            <a:r>
              <a:rPr lang="en-US" altLang="ko-KR" sz="18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id=</a:t>
            </a:r>
            <a:r>
              <a:rPr lang="ko-KR" altLang="en-US" sz="1800" b="1" dirty="0">
                <a:solidFill>
                  <a:srgbClr val="FF0000"/>
                </a:solidFill>
              </a:rPr>
              <a:t>도시번호</a:t>
            </a:r>
            <a:r>
              <a:rPr lang="en-US" altLang="ko-KR" sz="1800" dirty="0"/>
              <a:t>&amp;</a:t>
            </a:r>
            <a:r>
              <a:rPr lang="en-US" altLang="ko-KR" sz="1800" b="1" dirty="0" err="1">
                <a:solidFill>
                  <a:srgbClr val="FF0000"/>
                </a:solidFill>
              </a:rPr>
              <a:t>appid</a:t>
            </a:r>
            <a:r>
              <a:rPr lang="en-US" altLang="ko-KR" sz="1800" b="1" dirty="0">
                <a:solidFill>
                  <a:srgbClr val="FF0000"/>
                </a:solidFill>
              </a:rPr>
              <a:t>=</a:t>
            </a:r>
            <a:r>
              <a:rPr lang="en-US" altLang="ko-KR" sz="1800" b="1" dirty="0" err="1">
                <a:solidFill>
                  <a:srgbClr val="FF0000"/>
                </a:solidFill>
              </a:rPr>
              <a:t>APIkey</a:t>
            </a:r>
            <a:endParaRPr lang="en-US" altLang="ko-KR" sz="18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5C418E-4FF4-5563-4430-8C8733963EF8}"/>
              </a:ext>
            </a:extLst>
          </p:cNvPr>
          <p:cNvSpPr txBox="1"/>
          <p:nvPr/>
        </p:nvSpPr>
        <p:spPr>
          <a:xfrm>
            <a:off x="8072004" y="1520665"/>
            <a:ext cx="3268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스피너의</a:t>
            </a:r>
            <a:r>
              <a:rPr lang="ko-KR" altLang="en-US" dirty="0"/>
              <a:t> 제목은 도시선택</a:t>
            </a:r>
          </a:p>
        </p:txBody>
      </p:sp>
    </p:spTree>
    <p:extLst>
      <p:ext uri="{BB962C8B-B14F-4D97-AF65-F5344CB8AC3E}">
        <p14:creationId xmlns:p14="http://schemas.microsoft.com/office/powerpoint/2010/main" val="3924004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277F3F-3B56-FCA8-90D4-E7327CCDB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838" y="-26443"/>
            <a:ext cx="7470843" cy="974743"/>
          </a:xfrm>
        </p:spPr>
        <p:txBody>
          <a:bodyPr/>
          <a:lstStyle/>
          <a:p>
            <a:r>
              <a:rPr lang="en-US" altLang="ko-KR" dirty="0"/>
              <a:t>JSON (JavaScript Object Notation)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C8871D-9BDF-23EA-FC17-EE4BCDDCC253}"/>
              </a:ext>
            </a:extLst>
          </p:cNvPr>
          <p:cNvSpPr txBox="1"/>
          <p:nvPr/>
        </p:nvSpPr>
        <p:spPr>
          <a:xfrm>
            <a:off x="226166" y="1204317"/>
            <a:ext cx="12701894" cy="2116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/>
              <a:t>데이터를 저장하고 교환하기 위한 경량의 데이터 형식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/>
              <a:t>웹 기반의 애플리케이션에서 데이터를 전송하고 받는 데 널리 사용</a:t>
            </a:r>
            <a:r>
              <a:rPr lang="en-US" altLang="ko-KR" dirty="0"/>
              <a:t>. </a:t>
            </a:r>
            <a:r>
              <a:rPr lang="ko-KR" altLang="en-US" dirty="0"/>
              <a:t>특히 웹 서비스와의 통신에서 많이 이용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/>
              <a:t>지역변수 </a:t>
            </a:r>
            <a:r>
              <a:rPr lang="en-US" altLang="ko-KR" dirty="0" err="1"/>
              <a:t>responseContent</a:t>
            </a:r>
            <a:r>
              <a:rPr lang="en-US" altLang="ko-KR" dirty="0"/>
              <a:t>(</a:t>
            </a:r>
            <a:r>
              <a:rPr lang="ko-KR" altLang="en-US" dirty="0" err="1"/>
              <a:t>응답콘텐츠</a:t>
            </a:r>
            <a:r>
              <a:rPr lang="en-US" altLang="ko-KR" dirty="0"/>
              <a:t>)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/>
              <a:t>요청한 날씨 정보를 </a:t>
            </a:r>
            <a:r>
              <a:rPr lang="en-US" altLang="ko-KR" dirty="0"/>
              <a:t>JSON </a:t>
            </a:r>
            <a:r>
              <a:rPr lang="ko-KR" altLang="en-US" dirty="0"/>
              <a:t>형태로 받는다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/>
              <a:t>날씨정보를 가져오기 위해 </a:t>
            </a:r>
            <a:r>
              <a:rPr lang="en-US" altLang="ko-KR" dirty="0"/>
              <a:t>Web1</a:t>
            </a:r>
            <a:r>
              <a:rPr lang="ko-KR" altLang="en-US" dirty="0"/>
              <a:t>에서 </a:t>
            </a:r>
            <a:r>
              <a:rPr lang="en-US" altLang="ko-KR" dirty="0"/>
              <a:t>JSON </a:t>
            </a:r>
            <a:r>
              <a:rPr lang="ko-KR" altLang="en-US" dirty="0"/>
              <a:t>텍스트를 디코딩하는 블록인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가져와서 요청한 웹에서 전달받은 </a:t>
            </a:r>
            <a:r>
              <a:rPr lang="ko-KR" altLang="en-US" dirty="0" err="1"/>
              <a:t>응답콘텐츠를</a:t>
            </a:r>
            <a:r>
              <a:rPr lang="ko-KR" altLang="en-US" dirty="0"/>
              <a:t> 결과변수에 저장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91BED9F-3CB5-333E-5488-A270358DD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54" y="3668444"/>
            <a:ext cx="11050542" cy="28674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279912-22CE-C75A-7C91-D740A8526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713" t="25517" r="18428" b="52771"/>
          <a:stretch/>
        </p:blipFill>
        <p:spPr>
          <a:xfrm>
            <a:off x="8113681" y="2593819"/>
            <a:ext cx="3852153" cy="62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45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C2A61-5CA9-A58B-C21A-7B59F6450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77" y="0"/>
            <a:ext cx="8504513" cy="974743"/>
          </a:xfrm>
        </p:spPr>
        <p:txBody>
          <a:bodyPr/>
          <a:lstStyle/>
          <a:p>
            <a:r>
              <a:rPr lang="ko-KR" altLang="en-US" dirty="0"/>
              <a:t>요청한</a:t>
            </a:r>
            <a:r>
              <a:rPr lang="en-US" altLang="ko-KR" dirty="0"/>
              <a:t> </a:t>
            </a:r>
            <a:r>
              <a:rPr lang="ko-KR" altLang="en-US" dirty="0"/>
              <a:t>값은 </a:t>
            </a:r>
            <a:r>
              <a:rPr lang="ko-KR" altLang="en-US" dirty="0" err="1"/>
              <a:t>딕셔너리</a:t>
            </a:r>
            <a:r>
              <a:rPr lang="en-US" altLang="ko-KR" dirty="0"/>
              <a:t>(Dictionary)</a:t>
            </a:r>
            <a:r>
              <a:rPr lang="ko-KR" altLang="en-US" dirty="0"/>
              <a:t> 형태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B91CE6-90B5-EA1F-F12C-1B0040D141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4453" y="1129584"/>
            <a:ext cx="9473118" cy="958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딕셔너리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Dictionary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)는 키(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)와 값(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)의 쌍으로 이루어진 데이터 구조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{}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로 표시되며, 키와 값은 콜론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을 사용하여 구분. 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4BF10E-F985-E610-34F8-64E3F515FCDF}"/>
              </a:ext>
            </a:extLst>
          </p:cNvPr>
          <p:cNvSpPr txBox="1"/>
          <p:nvPr/>
        </p:nvSpPr>
        <p:spPr>
          <a:xfrm>
            <a:off x="6431606" y="1695377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user = { "name": "John", "age": 30, "city": "New York" }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66845-FF52-4D08-FD31-87E41109655B}"/>
              </a:ext>
            </a:extLst>
          </p:cNvPr>
          <p:cNvSpPr txBox="1"/>
          <p:nvPr/>
        </p:nvSpPr>
        <p:spPr>
          <a:xfrm>
            <a:off x="1352143" y="4530170"/>
            <a:ext cx="94261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{“</a:t>
            </a:r>
            <a:r>
              <a:rPr lang="en-US" altLang="ko-KR" sz="2400" dirty="0" err="1"/>
              <a:t>base”:”stations”,”clouds</a:t>
            </a:r>
            <a:r>
              <a:rPr lang="en-US" altLang="ko-KR" sz="2400" dirty="0"/>
              <a:t>”:{“all”:20},”cod”:200,’coord”:{“lat”:35.8233,”lon”:128.7378}~”temp”:303.02,”temp_max”:303.02,”temp_min”:303.02},”name”:”</a:t>
            </a:r>
            <a:r>
              <a:rPr lang="en-US" altLang="ko-KR" sz="2400" dirty="0" err="1"/>
              <a:t>Hayang</a:t>
            </a:r>
            <a:r>
              <a:rPr lang="en-US" altLang="ko-KR" sz="2400" dirty="0"/>
              <a:t>”~~ “weather”:[{</a:t>
            </a:r>
            <a:r>
              <a:rPr lang="en-US" altLang="ko-KR" sz="2400" dirty="0" err="1"/>
              <a:t>description”:”few</a:t>
            </a:r>
            <a:r>
              <a:rPr lang="en-US" altLang="ko-KR" sz="2400" dirty="0"/>
              <a:t> clouds”,”icon”:”02d”,”id”:801,”main”:”Clouds”}],”wind”:{“deg”:330,”speed”:3.6}}~~~</a:t>
            </a:r>
            <a:endParaRPr lang="ko-KR" altLang="en-US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C0D5D74-78F8-9180-9A47-7C64AE264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77" y="2140589"/>
            <a:ext cx="11333446" cy="231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102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E9E2F-2216-AAEC-7477-97549E91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234" y="0"/>
            <a:ext cx="5544766" cy="974743"/>
          </a:xfrm>
        </p:spPr>
        <p:txBody>
          <a:bodyPr/>
          <a:lstStyle/>
          <a:p>
            <a:r>
              <a:rPr lang="ko-KR" altLang="en-US" dirty="0"/>
              <a:t>파싱</a:t>
            </a:r>
            <a:r>
              <a:rPr lang="en-US" altLang="ko-KR" dirty="0"/>
              <a:t>(Parsing)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418D62-7CAA-9322-168B-ED1310978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361" y="1070043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주어진 데이터를 분석하고 원하는 정보를 추출하는 과정</a:t>
            </a:r>
            <a:r>
              <a:rPr lang="en-US" altLang="ko-KR" sz="2000" dirty="0"/>
              <a:t>. </a:t>
            </a:r>
          </a:p>
          <a:p>
            <a:r>
              <a:rPr lang="ko-KR" altLang="en-US" sz="2000" dirty="0"/>
              <a:t>전체자료구문을</a:t>
            </a:r>
            <a:r>
              <a:rPr lang="en-US" altLang="ko-KR" sz="2000" dirty="0"/>
              <a:t> </a:t>
            </a:r>
            <a:r>
              <a:rPr lang="ko-KR" altLang="en-US" sz="2000" dirty="0"/>
              <a:t>분석하여 필요한 부분을 가져오는 것을 파싱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E05BA6-EAC1-D802-6880-9A60DE2AE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61" y="1915697"/>
            <a:ext cx="8006254" cy="47054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5FAD2F1-0716-5AC6-0D99-462CF7FA9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61" y="1915696"/>
            <a:ext cx="8006254" cy="47054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363CAF-AE81-91BB-4227-0F3BF1C9FD2E}"/>
              </a:ext>
            </a:extLst>
          </p:cNvPr>
          <p:cNvSpPr txBox="1"/>
          <p:nvPr/>
        </p:nvSpPr>
        <p:spPr>
          <a:xfrm>
            <a:off x="5389123" y="2599381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“weather”:[{</a:t>
            </a:r>
            <a:r>
              <a:rPr lang="en-US" altLang="ko-KR" sz="1800" dirty="0" err="1"/>
              <a:t>description”:”few</a:t>
            </a:r>
            <a:r>
              <a:rPr lang="en-US" altLang="ko-KR" sz="1800" dirty="0"/>
              <a:t> clouds”,”icon”:”02d”,”id”:801,”main”:”Clouds”}],”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238370-01F6-83E4-2DFC-4017B2664BCA}"/>
              </a:ext>
            </a:extLst>
          </p:cNvPr>
          <p:cNvSpPr txBox="1"/>
          <p:nvPr/>
        </p:nvSpPr>
        <p:spPr>
          <a:xfrm>
            <a:off x="6097622" y="3245712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Index=1 : [{</a:t>
            </a:r>
            <a:r>
              <a:rPr lang="en-US" altLang="ko-KR" sz="1800" dirty="0" err="1"/>
              <a:t>description”:”few</a:t>
            </a:r>
            <a:r>
              <a:rPr lang="en-US" altLang="ko-KR" sz="1800" dirty="0"/>
              <a:t> clouds”,”icon”:”02d”,”id”:801,”main”:”Clouds”}]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3429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E9E2F-2216-AAEC-7477-97549E91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846" y="0"/>
            <a:ext cx="5544766" cy="974743"/>
          </a:xfrm>
        </p:spPr>
        <p:txBody>
          <a:bodyPr/>
          <a:lstStyle/>
          <a:p>
            <a:r>
              <a:rPr lang="ko-KR" altLang="en-US" dirty="0"/>
              <a:t>시간 표시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418D62-7CAA-9322-168B-ED1310978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361" y="1070043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현재의 시스템시간을 호출하여 시간 변수에 저장</a:t>
            </a:r>
            <a:endParaRPr lang="en-US" altLang="ko-KR" sz="2000" dirty="0"/>
          </a:p>
          <a:p>
            <a:r>
              <a:rPr lang="en-US" altLang="ko-KR" sz="2000" dirty="0"/>
              <a:t>24</a:t>
            </a:r>
            <a:r>
              <a:rPr lang="ko-KR" altLang="en-US" sz="2000" dirty="0"/>
              <a:t>년 </a:t>
            </a:r>
            <a:r>
              <a:rPr lang="en-US" altLang="ko-KR" sz="2000" dirty="0"/>
              <a:t>05</a:t>
            </a:r>
            <a:r>
              <a:rPr lang="ko-KR" altLang="en-US" sz="2000" dirty="0"/>
              <a:t>월 </a:t>
            </a:r>
            <a:r>
              <a:rPr lang="en-US" altLang="ko-KR" sz="2000" dirty="0"/>
              <a:t>10</a:t>
            </a:r>
            <a:r>
              <a:rPr lang="ko-KR" altLang="en-US" sz="2000" dirty="0"/>
              <a:t>일 오전 </a:t>
            </a:r>
            <a:r>
              <a:rPr lang="en-US" altLang="ko-KR" sz="2000" dirty="0"/>
              <a:t>10:30:15 </a:t>
            </a:r>
            <a:r>
              <a:rPr lang="ko-KR" altLang="en-US" sz="2000" dirty="0"/>
              <a:t>형식으로 표시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368F8B-48A9-F5D7-1994-CA2AB7976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315" y="2171524"/>
            <a:ext cx="9821646" cy="324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899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E9E2F-2216-AAEC-7477-97549E91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646" y="0"/>
            <a:ext cx="5544766" cy="974743"/>
          </a:xfrm>
        </p:spPr>
        <p:txBody>
          <a:bodyPr/>
          <a:lstStyle/>
          <a:p>
            <a:r>
              <a:rPr lang="ko-KR" altLang="en-US" dirty="0"/>
              <a:t>온도와 습도 파싱</a:t>
            </a:r>
            <a:r>
              <a:rPr lang="en-US" altLang="ko-KR" dirty="0"/>
              <a:t>(Parsing)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418D62-7CAA-9322-168B-ED1310978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646" y="102140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0</a:t>
            </a:r>
            <a:r>
              <a:rPr lang="ko-KR" altLang="en-US" sz="2000" dirty="0" err="1"/>
              <a:t>켈빈은</a:t>
            </a:r>
            <a:r>
              <a:rPr lang="ko-KR" altLang="en-US" sz="2000" dirty="0"/>
              <a:t> 절대 영도이며 이는 </a:t>
            </a:r>
            <a:r>
              <a:rPr lang="en-US" altLang="ko-KR" sz="2000" dirty="0"/>
              <a:t>-273.15°C</a:t>
            </a:r>
            <a:r>
              <a:rPr lang="ko-KR" altLang="en-US" sz="2000" dirty="0"/>
              <a:t>와 동일</a:t>
            </a:r>
            <a:endParaRPr lang="en-US" altLang="ko-KR" sz="2000" dirty="0"/>
          </a:p>
          <a:p>
            <a:r>
              <a:rPr lang="ko-KR" altLang="en-US" sz="2000" dirty="0" err="1"/>
              <a:t>켈빈</a:t>
            </a:r>
            <a:r>
              <a:rPr lang="en-US" altLang="ko-KR" sz="2000" dirty="0"/>
              <a:t>(K)=</a:t>
            </a:r>
            <a:r>
              <a:rPr lang="ko-KR" altLang="en-US" sz="2000" dirty="0"/>
              <a:t>섭씨</a:t>
            </a:r>
            <a:r>
              <a:rPr lang="en-US" altLang="ko-KR" sz="2000" dirty="0"/>
              <a:t>(°C)+273.15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29515F-FEA0-7B93-1653-E5D2291DF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06" y="1898871"/>
            <a:ext cx="10425567" cy="495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19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43494-16BA-BA06-E6F1-9DB243DBF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39" y="0"/>
            <a:ext cx="11274357" cy="974743"/>
          </a:xfrm>
        </p:spPr>
        <p:txBody>
          <a:bodyPr/>
          <a:lstStyle/>
          <a:p>
            <a:r>
              <a:rPr lang="ko-KR" altLang="en-US" dirty="0"/>
              <a:t>날씨를 한국어로 </a:t>
            </a:r>
            <a:r>
              <a:rPr lang="ko-KR" altLang="en-US" dirty="0" err="1"/>
              <a:t>번역후</a:t>
            </a:r>
            <a:r>
              <a:rPr lang="ko-KR" altLang="en-US" dirty="0"/>
              <a:t> 온도와 습도를 음성으로 읽기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0CA98E-8FDB-EDA5-BDAC-C6D3DCC6C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5" y="988150"/>
            <a:ext cx="8802328" cy="588732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9A9D4A7-445D-407D-EE19-C09AFE657F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173" t="1" b="-9272"/>
          <a:stretch/>
        </p:blipFill>
        <p:spPr>
          <a:xfrm>
            <a:off x="6777953" y="861692"/>
            <a:ext cx="5206524" cy="2440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0D6E9A-E3A0-F1C8-6BC9-652693169A40}"/>
              </a:ext>
            </a:extLst>
          </p:cNvPr>
          <p:cNvSpPr txBox="1"/>
          <p:nvPr/>
        </p:nvSpPr>
        <p:spPr>
          <a:xfrm>
            <a:off x="8895343" y="3521413"/>
            <a:ext cx="19447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Clouds</a:t>
            </a:r>
          </a:p>
          <a:p>
            <a:r>
              <a:rPr lang="ko-KR" altLang="en-US" dirty="0"/>
              <a:t>최고온도</a:t>
            </a:r>
            <a:r>
              <a:rPr lang="en-US" altLang="ko-KR" dirty="0"/>
              <a:t> :28.92C</a:t>
            </a:r>
          </a:p>
          <a:p>
            <a:r>
              <a:rPr lang="ko-KR" altLang="en-US" dirty="0"/>
              <a:t>최저온도 </a:t>
            </a:r>
            <a:r>
              <a:rPr lang="en-US" altLang="ko-KR" dirty="0"/>
              <a:t>:24.56C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5853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482</Words>
  <Application>Microsoft Office PowerPoint</Application>
  <PresentationFormat>와이드스크린</PresentationFormat>
  <Paragraphs>52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Arial Unicode MS</vt:lpstr>
      <vt:lpstr>맑은 고딕</vt:lpstr>
      <vt:lpstr>Arial</vt:lpstr>
      <vt:lpstr>Wingdings</vt:lpstr>
      <vt:lpstr>Office 테마</vt:lpstr>
      <vt:lpstr>날씨 관련 API key 발급</vt:lpstr>
      <vt:lpstr>날씨 관련 API key 발급</vt:lpstr>
      <vt:lpstr>계정 생성</vt:lpstr>
      <vt:lpstr>본인의 API Key 확인</vt:lpstr>
      <vt:lpstr>지역별 ID 찾기</vt:lpstr>
      <vt:lpstr>날씨정보 알려주는 앱 UI 작성</vt:lpstr>
      <vt:lpstr>초기화 작업과 도시별 ID 지정</vt:lpstr>
      <vt:lpstr>JSON (JavaScript Object Notation)</vt:lpstr>
      <vt:lpstr>요청한 값은 딕셔너리(Dictionary) 형태</vt:lpstr>
      <vt:lpstr>파싱(Parsing)</vt:lpstr>
      <vt:lpstr>시간 표시</vt:lpstr>
      <vt:lpstr>온도와 습도 파싱(Parsing)</vt:lpstr>
      <vt:lpstr>날씨를 한국어로 번역후 온도와 습도를 음성으로 읽기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날씨 관련 API key 발급</dc:title>
  <dc:creator>pisu young</dc:creator>
  <cp:lastModifiedBy>DCU</cp:lastModifiedBy>
  <cp:revision>6</cp:revision>
  <cp:lastPrinted>2024-06-03T02:21:33Z</cp:lastPrinted>
  <dcterms:created xsi:type="dcterms:W3CDTF">2024-05-31T04:29:41Z</dcterms:created>
  <dcterms:modified xsi:type="dcterms:W3CDTF">2024-06-03T02:25:04Z</dcterms:modified>
</cp:coreProperties>
</file>